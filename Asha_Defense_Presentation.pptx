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our minor project on the Women Wellness and Safety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Asha is not just a fictional character. She represents the real challenges faced by women in Nepal. She juggles studies, family, and personal life. Let us walk through her daily struggles.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Asha's menstrual cycle is irregular. On the left are the real frictions she faces daily. On the right is how our system resolves each one through cycle tracking, symptom logging, and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Exam stress builds up silently. Our system offers mood logging and journaling as emotional outlets. The key differentiator is our AI — it doesn't just store data, it analyzes it and recommends personalized relief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 Women like Asha lack access to reliable health information. We address this with a curated Awareness Module covering 5 major women's health topics with verified, educational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 is the most urgent — personal safety. Our voice-triggered SOS needs no manual phone interaction. One voice phrase activates the full emergency chain: GPS capture, email with location link, and offline SMS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follows a clean 4-layer client-server model. The frontend captures user inputs, FastAPI backend handles all logic, the database stores securely, and the AI layer adds intelligence via Google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modules form the backbone of our platform. Each solves a specific need but they all share data and insights — that interconnection is what makes this system more powerful than any standalone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clearly shows the research gap we identified. Every existing platform solves one problem. Ours is the only system that integrates all five dimensions into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comprehensive testing strategy covering 6 testing types. The project is scoped to 9 weeks, and our estimated budget is just NPR 3,200 because we leverage free, open-source tools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Asha represents thousands of women across Nepal. Our platform provides one intelligent, accessible solution. We don't need to change the world on day one — if we make one woman's life safer and healthier, we've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welcome questions. Key points to prepare for: why Gemini API vs building our own model? Why React Native over Flutter? How does voice SOS handle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1371600" y="-2286000"/>
            <a:ext cx="6400800" cy="4572000"/>
          </a:xfrm>
          <a:prstGeom prst="ellipse">
            <a:avLst/>
          </a:prstGeom>
          <a:solidFill>
            <a:srgbClr val="7B2D8B">
              <a:alpha val="25000"/>
            </a:srgbClr>
          </a:solidFill>
          <a:ln w="12700">
            <a:solidFill>
              <a:srgbClr val="7B2D8B">
                <a:alpha val="25000"/>
              </a:srgbClr>
            </a:solidFill>
            <a:prstDash val="solid"/>
          </a:ln>
        </p:spPr>
      </p:sp>
      <p:sp>
        <p:nvSpPr>
          <p:cNvPr id="3" name="Shape 1"/>
          <p:cNvSpPr/>
          <p:nvPr/>
        </p:nvSpPr>
        <p:spPr>
          <a:xfrm>
            <a:off x="5943600" y="3200400"/>
            <a:ext cx="4572000" cy="4572000"/>
          </a:xfrm>
          <a:prstGeom prst="ellipse">
            <a:avLst/>
          </a:prstGeom>
          <a:solidFill>
            <a:srgbClr val="C2185B">
              <a:alpha val="20000"/>
            </a:srgbClr>
          </a:solidFill>
          <a:ln w="12700">
            <a:solidFill>
              <a:srgbClr val="C2185B">
                <a:alpha val="20000"/>
              </a:srgbClr>
            </a:solidFill>
            <a:prstDash val="solid"/>
          </a:ln>
        </p:spPr>
      </p:sp>
      <p:sp>
        <p:nvSpPr>
          <p:cNvPr id="4" name="Shape 2"/>
          <p:cNvSpPr/>
          <p:nvPr/>
        </p:nvSpPr>
        <p:spPr>
          <a:xfrm>
            <a:off x="457200" y="274320"/>
            <a:ext cx="8229600" cy="502920"/>
          </a:xfrm>
          <a:prstGeom prst="roundRect">
            <a:avLst>
              <a:gd name="adj" fmla="val 18182"/>
            </a:avLst>
          </a:prstGeom>
          <a:solidFill>
            <a:srgbClr val="7B2D8B">
              <a:alpha val="50000"/>
            </a:srgbClr>
          </a:solidFill>
          <a:ln w="12700">
            <a:solidFill>
              <a:srgbClr val="F8BBD9">
                <a:alpha val="40000"/>
              </a:srgbClr>
            </a:solidFill>
            <a:prstDash val="solid"/>
          </a:ln>
        </p:spPr>
      </p:sp>
      <p:sp>
        <p:nvSpPr>
          <p:cNvPr id="5" name="Text 3"/>
          <p:cNvSpPr/>
          <p:nvPr/>
        </p:nvSpPr>
        <p:spPr>
          <a:xfrm>
            <a:off x="457200" y="274320"/>
            <a:ext cx="8229600" cy="502920"/>
          </a:xfrm>
          <a:prstGeom prst="rect">
            <a:avLst/>
          </a:prstGeom>
          <a:noFill/>
          <a:ln/>
        </p:spPr>
        <p:txBody>
          <a:bodyPr wrap="square" lIns="0" tIns="0" rIns="0" bIns="0" rtlCol="0" anchor="ctr"/>
          <a:lstStyle/>
          <a:p>
            <a:pPr algn="ctr" indent="0" marL="0">
              <a:buNone/>
            </a:pPr>
            <a:r>
              <a:rPr lang="en-US" sz="900" spc="100" kern="0" dirty="0">
                <a:solidFill>
                  <a:srgbClr val="F8BBD9"/>
                </a:solidFill>
                <a:latin typeface="Calibri" pitchFamily="34" charset="0"/>
                <a:ea typeface="Calibri" pitchFamily="34" charset="-122"/>
                <a:cs typeface="Calibri" pitchFamily="34" charset="-120"/>
              </a:rPr>
              <a:t>TRIBHUVAN UNIVERSITY  |  INSTITUTE OF ENGINEERING  |  ACEM, KALANKI</a:t>
            </a:r>
            <a:endParaRPr lang="en-US" sz="900" dirty="0"/>
          </a:p>
        </p:txBody>
      </p:sp>
      <p:sp>
        <p:nvSpPr>
          <p:cNvPr id="6" name="Text 4"/>
          <p:cNvSpPr/>
          <p:nvPr/>
        </p:nvSpPr>
        <p:spPr>
          <a:xfrm>
            <a:off x="548640" y="1097280"/>
            <a:ext cx="8046720"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WOMEN WELLNESS &amp;</a:t>
            </a:r>
            <a:endParaRPr lang="en-US" sz="4400" dirty="0"/>
          </a:p>
        </p:txBody>
      </p:sp>
      <p:sp>
        <p:nvSpPr>
          <p:cNvPr id="7" name="Text 5"/>
          <p:cNvSpPr/>
          <p:nvPr/>
        </p:nvSpPr>
        <p:spPr>
          <a:xfrm>
            <a:off x="548640" y="1783080"/>
            <a:ext cx="8046720" cy="777240"/>
          </a:xfrm>
          <a:prstGeom prst="rect">
            <a:avLst/>
          </a:prstGeom>
          <a:noFill/>
          <a:ln/>
        </p:spPr>
        <p:txBody>
          <a:bodyPr wrap="square" lIns="0" tIns="0" rIns="0" bIns="0" rtlCol="0" anchor="ctr"/>
          <a:lstStyle/>
          <a:p>
            <a:pPr algn="ctr" indent="0" marL="0">
              <a:buNone/>
            </a:pPr>
            <a:r>
              <a:rPr lang="en-US" sz="4400" b="1" dirty="0">
                <a:solidFill>
                  <a:srgbClr val="F8BBD9"/>
                </a:solidFill>
                <a:latin typeface="Cambria" pitchFamily="34" charset="0"/>
                <a:ea typeface="Cambria" pitchFamily="34" charset="-122"/>
                <a:cs typeface="Cambria" pitchFamily="34" charset="-120"/>
              </a:rPr>
              <a:t>SAFETY PLATFORM</a:t>
            </a:r>
            <a:endParaRPr lang="en-US" sz="4400" dirty="0"/>
          </a:p>
        </p:txBody>
      </p:sp>
      <p:sp>
        <p:nvSpPr>
          <p:cNvPr id="8" name="Text 6"/>
          <p:cNvSpPr/>
          <p:nvPr/>
        </p:nvSpPr>
        <p:spPr>
          <a:xfrm>
            <a:off x="731520" y="2651760"/>
            <a:ext cx="7680960" cy="457200"/>
          </a:xfrm>
          <a:prstGeom prst="rect">
            <a:avLst/>
          </a:prstGeom>
          <a:noFill/>
          <a:ln/>
        </p:spPr>
        <p:txBody>
          <a:bodyPr wrap="square" lIns="0" tIns="0" rIns="0" bIns="0" rtlCol="0" anchor="ctr"/>
          <a:lstStyle/>
          <a:p>
            <a:pPr algn="ctr" indent="0" marL="0">
              <a:buNone/>
            </a:pPr>
            <a:r>
              <a:rPr lang="en-US" sz="1400" i="1" dirty="0">
                <a:solidFill>
                  <a:srgbClr val="D8B4FE"/>
                </a:solidFill>
                <a:latin typeface="Calibri" pitchFamily="34" charset="0"/>
                <a:ea typeface="Calibri" pitchFamily="34" charset="-122"/>
                <a:cs typeface="Calibri" pitchFamily="34" charset="-120"/>
              </a:rPr>
              <a:t>AI-Assisted Emotional Monitoring &amp; Voice-Triggered Emergency Response</a:t>
            </a:r>
            <a:endParaRPr lang="en-US" sz="1400" dirty="0"/>
          </a:p>
        </p:txBody>
      </p:sp>
      <p:sp>
        <p:nvSpPr>
          <p:cNvPr id="9" name="Shape 7"/>
          <p:cNvSpPr/>
          <p:nvPr/>
        </p:nvSpPr>
        <p:spPr>
          <a:xfrm>
            <a:off x="3200400" y="3218688"/>
            <a:ext cx="2743200" cy="36576"/>
          </a:xfrm>
          <a:prstGeom prst="rect">
            <a:avLst/>
          </a:prstGeom>
          <a:solidFill>
            <a:srgbClr val="C2185B"/>
          </a:solidFill>
          <a:ln w="12700">
            <a:solidFill>
              <a:srgbClr val="C2185B"/>
            </a:solidFill>
            <a:prstDash val="solid"/>
          </a:ln>
        </p:spPr>
      </p:sp>
      <p:sp>
        <p:nvSpPr>
          <p:cNvPr id="10" name="Text 8"/>
          <p:cNvSpPr/>
          <p:nvPr/>
        </p:nvSpPr>
        <p:spPr>
          <a:xfrm>
            <a:off x="457200" y="3383280"/>
            <a:ext cx="8229600" cy="731520"/>
          </a:xfrm>
          <a:prstGeom prst="rect">
            <a:avLst/>
          </a:prstGeom>
          <a:noFill/>
          <a:ln/>
        </p:spPr>
        <p:txBody>
          <a:bodyPr wrap="square"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Saksham Bhujel (ACE080BCT063)  ·  Saroj Singh Dhami (ACE080BCT069)  ·  Sumina Dangol (ACE080BCT084)</a:t>
            </a:r>
            <a:endParaRPr lang="en-US" sz="1100" dirty="0"/>
          </a:p>
          <a:p>
            <a:pPr algn="ctr" indent="0" marL="0">
              <a:buNone/>
            </a:pPr>
            <a:r>
              <a:rPr lang="en-US" sz="1100" dirty="0">
                <a:solidFill>
                  <a:srgbClr val="C4B5FD"/>
                </a:solidFill>
                <a:latin typeface="Calibri" pitchFamily="34" charset="0"/>
                <a:ea typeface="Calibri" pitchFamily="34" charset="-122"/>
                <a:cs typeface="Calibri" pitchFamily="34" charset="-120"/>
              </a:rPr>
              <a:t>Department of Electronics and Computer Engineering  |  ENCT 354</a:t>
            </a:r>
            <a:endParaRPr lang="en-US" sz="1100" dirty="0"/>
          </a:p>
        </p:txBody>
      </p:sp>
      <p:sp>
        <p:nvSpPr>
          <p:cNvPr id="11" name="Shape 9"/>
          <p:cNvSpPr/>
          <p:nvPr/>
        </p:nvSpPr>
        <p:spPr>
          <a:xfrm>
            <a:off x="3474720" y="4297680"/>
            <a:ext cx="2194560" cy="411480"/>
          </a:xfrm>
          <a:prstGeom prst="roundRect">
            <a:avLst>
              <a:gd name="adj" fmla="val 44444"/>
            </a:avLst>
          </a:prstGeom>
          <a:solidFill>
            <a:srgbClr val="C2185B">
              <a:alpha val="70000"/>
            </a:srgbClr>
          </a:solidFill>
          <a:ln w="12700">
            <a:solidFill>
              <a:srgbClr val="F8BBD9">
                <a:alpha val="60000"/>
              </a:srgbClr>
            </a:solidFill>
            <a:prstDash val="solid"/>
          </a:ln>
        </p:spPr>
      </p:sp>
      <p:sp>
        <p:nvSpPr>
          <p:cNvPr id="12" name="Text 10"/>
          <p:cNvSpPr/>
          <p:nvPr/>
        </p:nvSpPr>
        <p:spPr>
          <a:xfrm>
            <a:off x="3474720" y="429768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14th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7F6"/>
        </a:solidFill>
      </p:bgPr>
    </p:bg>
    <p:spTree>
      <p:nvGrpSpPr>
        <p:cNvPr id="1" name=""/>
        <p:cNvGrpSpPr/>
        <p:nvPr/>
      </p:nvGrpSpPr>
      <p:grpSpPr>
        <a:xfrm>
          <a:off x="0" y="0"/>
          <a:ext cx="0" cy="0"/>
          <a:chOff x="0" y="0"/>
          <a:chExt cx="0" cy="0"/>
        </a:xfrm>
      </p:grpSpPr>
      <p:sp>
        <p:nvSpPr>
          <p:cNvPr id="2" name="Shape 0"/>
          <p:cNvSpPr/>
          <p:nvPr/>
        </p:nvSpPr>
        <p:spPr>
          <a:xfrm>
            <a:off x="365760" y="320040"/>
            <a:ext cx="4206240" cy="4480560"/>
          </a:xfrm>
          <a:prstGeom prst="roundRect">
            <a:avLst>
              <a:gd name="adj" fmla="val 5435"/>
            </a:avLst>
          </a:prstGeom>
          <a:solidFill>
            <a:srgbClr val="2D1B4E"/>
          </a:solidFill>
          <a:ln w="12700">
            <a:solidFill>
              <a:srgbClr val="2D1B4E"/>
            </a:solidFill>
            <a:prstDash val="solid"/>
          </a:ln>
          <a:effectLst>
            <a:outerShdw sx="100000" sy="100000" kx="0" ky="0" algn="bl" rotWithShape="0" blurRad="101600" dist="38100" dir="2700000">
              <a:srgbClr val="000000">
                <a:alpha val="18000"/>
              </a:srgbClr>
            </a:outerShdw>
          </a:effectLst>
        </p:spPr>
      </p:sp>
      <p:sp>
        <p:nvSpPr>
          <p:cNvPr id="3" name="Shape 1"/>
          <p:cNvSpPr/>
          <p:nvPr/>
        </p:nvSpPr>
        <p:spPr>
          <a:xfrm>
            <a:off x="1371600" y="640080"/>
            <a:ext cx="2194560" cy="2194560"/>
          </a:xfrm>
          <a:prstGeom prst="ellipse">
            <a:avLst/>
          </a:prstGeom>
          <a:solidFill>
            <a:srgbClr val="7B2D8B"/>
          </a:solidFill>
          <a:ln w="12700">
            <a:solidFill>
              <a:srgbClr val="F8BBD9"/>
            </a:solidFill>
            <a:prstDash val="solid"/>
          </a:ln>
        </p:spPr>
      </p:sp>
      <p:sp>
        <p:nvSpPr>
          <p:cNvPr id="4" name="Text 2"/>
          <p:cNvSpPr/>
          <p:nvPr/>
        </p:nvSpPr>
        <p:spPr>
          <a:xfrm>
            <a:off x="1371600" y="640080"/>
            <a:ext cx="2194560" cy="2194560"/>
          </a:xfrm>
          <a:prstGeom prst="rect">
            <a:avLst/>
          </a:prstGeom>
          <a:noFill/>
          <a:ln/>
        </p:spPr>
        <p:txBody>
          <a:bodyPr wrap="square" lIns="0" tIns="0" rIns="0" bIns="0"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365760" y="2944368"/>
            <a:ext cx="420624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ASHA</a:t>
            </a:r>
            <a:endParaRPr lang="en-US" sz="3200" dirty="0"/>
          </a:p>
        </p:txBody>
      </p:sp>
      <p:sp>
        <p:nvSpPr>
          <p:cNvPr id="6" name="Text 4"/>
          <p:cNvSpPr/>
          <p:nvPr/>
        </p:nvSpPr>
        <p:spPr>
          <a:xfrm>
            <a:off x="365760" y="3474720"/>
            <a:ext cx="4206240" cy="365760"/>
          </a:xfrm>
          <a:prstGeom prst="rect">
            <a:avLst/>
          </a:prstGeom>
          <a:noFill/>
          <a:ln/>
        </p:spPr>
        <p:txBody>
          <a:bodyPr wrap="square" lIns="0" tIns="0" rIns="0" bIns="0" rtlCol="0" anchor="ctr"/>
          <a:lstStyle/>
          <a:p>
            <a:pPr algn="ctr" indent="0" marL="0">
              <a:buNone/>
            </a:pPr>
            <a:r>
              <a:rPr lang="en-US" sz="1100" i="1" dirty="0">
                <a:solidFill>
                  <a:srgbClr val="F8BBD9"/>
                </a:solidFill>
                <a:latin typeface="Calibri" pitchFamily="34" charset="0"/>
                <a:ea typeface="Calibri" pitchFamily="34" charset="-122"/>
                <a:cs typeface="Calibri" pitchFamily="34" charset="-120"/>
              </a:rPr>
              <a:t>22 years old  ·  Bachelor's Student  ·  Kathmandu</a:t>
            </a:r>
            <a:endParaRPr lang="en-US" sz="1100" dirty="0"/>
          </a:p>
        </p:txBody>
      </p:sp>
      <p:sp>
        <p:nvSpPr>
          <p:cNvPr id="7" name="Text 5"/>
          <p:cNvSpPr/>
          <p:nvPr/>
        </p:nvSpPr>
        <p:spPr>
          <a:xfrm>
            <a:off x="457200" y="3886200"/>
            <a:ext cx="4023360" cy="914400"/>
          </a:xfrm>
          <a:prstGeom prst="rect">
            <a:avLst/>
          </a:prstGeom>
          <a:noFill/>
          <a:ln/>
        </p:spPr>
        <p:txBody>
          <a:bodyPr wrap="square" lIns="0" tIns="0" rIns="0" bIns="0" rtlCol="0" anchor="ctr"/>
          <a:lstStyle/>
          <a:p>
            <a:pPr algn="ctr" indent="0" marL="0">
              <a:buNone/>
            </a:pPr>
            <a:r>
              <a:rPr lang="en-US" sz="1200" dirty="0">
                <a:solidFill>
                  <a:srgbClr val="D8B4FE"/>
                </a:solidFill>
                <a:latin typeface="Calibri" pitchFamily="34" charset="0"/>
                <a:ea typeface="Calibri" pitchFamily="34" charset="-122"/>
                <a:cs typeface="Calibri" pitchFamily="34" charset="-120"/>
              </a:rPr>
              <a:t>Asha represents thousands of</a:t>
            </a:r>
            <a:endParaRPr lang="en-US" sz="1200" dirty="0"/>
          </a:p>
          <a:p>
            <a:pPr algn="ctr" indent="0" marL="0">
              <a:buNone/>
            </a:pPr>
            <a:r>
              <a:rPr lang="en-US" sz="1200" dirty="0">
                <a:solidFill>
                  <a:srgbClr val="D8B4FE"/>
                </a:solidFill>
                <a:latin typeface="Calibri" pitchFamily="34" charset="0"/>
                <a:ea typeface="Calibri" pitchFamily="34" charset="-122"/>
                <a:cs typeface="Calibri" pitchFamily="34" charset="-120"/>
              </a:rPr>
              <a:t>women across Nepal who face</a:t>
            </a:r>
            <a:endParaRPr lang="en-US" sz="1200" dirty="0"/>
          </a:p>
          <a:p>
            <a:pPr algn="ctr" indent="0" marL="0">
              <a:buNone/>
            </a:pPr>
            <a:r>
              <a:rPr lang="en-US" sz="1200" dirty="0">
                <a:solidFill>
                  <a:srgbClr val="D8B4FE"/>
                </a:solidFill>
                <a:latin typeface="Calibri" pitchFamily="34" charset="0"/>
                <a:ea typeface="Calibri" pitchFamily="34" charset="-122"/>
                <a:cs typeface="Calibri" pitchFamily="34" charset="-120"/>
              </a:rPr>
              <a:t>challenges in health, emotional</a:t>
            </a:r>
            <a:endParaRPr lang="en-US" sz="1200" dirty="0"/>
          </a:p>
          <a:p>
            <a:pPr algn="ctr" indent="0" marL="0">
              <a:buNone/>
            </a:pPr>
            <a:r>
              <a:rPr lang="en-US" sz="1200" dirty="0">
                <a:solidFill>
                  <a:srgbClr val="D8B4FE"/>
                </a:solidFill>
                <a:latin typeface="Calibri" pitchFamily="34" charset="0"/>
                <a:ea typeface="Calibri" pitchFamily="34" charset="-122"/>
                <a:cs typeface="Calibri" pitchFamily="34" charset="-120"/>
              </a:rPr>
              <a:t>well-being &amp; personal safety</a:t>
            </a:r>
            <a:endParaRPr lang="en-US" sz="1200" dirty="0"/>
          </a:p>
          <a:p>
            <a:pPr algn="ctr" indent="0" marL="0">
              <a:buNone/>
            </a:pPr>
            <a:r>
              <a:rPr lang="en-US" sz="1200" dirty="0">
                <a:solidFill>
                  <a:srgbClr val="D8B4FE"/>
                </a:solidFill>
                <a:latin typeface="Calibri" pitchFamily="34" charset="0"/>
                <a:ea typeface="Calibri" pitchFamily="34" charset="-122"/>
                <a:cs typeface="Calibri" pitchFamily="34" charset="-120"/>
              </a:rPr>
              <a:t>every single day.</a:t>
            </a:r>
            <a:endParaRPr lang="en-US" sz="1200" dirty="0"/>
          </a:p>
        </p:txBody>
      </p:sp>
      <p:sp>
        <p:nvSpPr>
          <p:cNvPr id="8" name="Text 6"/>
          <p:cNvSpPr/>
          <p:nvPr/>
        </p:nvSpPr>
        <p:spPr>
          <a:xfrm>
            <a:off x="4937760" y="320040"/>
            <a:ext cx="3840480" cy="594360"/>
          </a:xfrm>
          <a:prstGeom prst="rect">
            <a:avLst/>
          </a:prstGeom>
          <a:noFill/>
          <a:ln/>
        </p:spPr>
        <p:txBody>
          <a:bodyPr wrap="square" lIns="0" tIns="0" rIns="0" bIns="0" rtlCol="0" anchor="ctr"/>
          <a:lstStyle/>
          <a:p>
            <a:pPr indent="0" marL="0">
              <a:buNone/>
            </a:pPr>
            <a:r>
              <a:rPr lang="en-US" sz="3400" b="1" dirty="0">
                <a:solidFill>
                  <a:srgbClr val="2D1B4E"/>
                </a:solidFill>
                <a:latin typeface="Cambria" pitchFamily="34" charset="0"/>
                <a:ea typeface="Cambria" pitchFamily="34" charset="-122"/>
                <a:cs typeface="Cambria" pitchFamily="34" charset="-120"/>
              </a:rPr>
              <a:t>Meet Asha</a:t>
            </a:r>
            <a:endParaRPr lang="en-US" sz="3400" dirty="0"/>
          </a:p>
        </p:txBody>
      </p:sp>
      <p:sp>
        <p:nvSpPr>
          <p:cNvPr id="9" name="Text 7"/>
          <p:cNvSpPr/>
          <p:nvPr/>
        </p:nvSpPr>
        <p:spPr>
          <a:xfrm>
            <a:off x="4937760" y="914400"/>
            <a:ext cx="3840480" cy="365760"/>
          </a:xfrm>
          <a:prstGeom prst="rect">
            <a:avLst/>
          </a:prstGeom>
          <a:noFill/>
          <a:ln/>
        </p:spPr>
        <p:txBody>
          <a:bodyPr wrap="square" lIns="0" tIns="0" rIns="0" bIns="0" rtlCol="0" anchor="ctr"/>
          <a:lstStyle/>
          <a:p>
            <a:pPr indent="0" marL="0">
              <a:buNone/>
            </a:pPr>
            <a:r>
              <a:rPr lang="en-US" sz="1300" i="1" dirty="0">
                <a:solidFill>
                  <a:srgbClr val="7B2D8B"/>
                </a:solidFill>
                <a:latin typeface="Calibri" pitchFamily="34" charset="0"/>
                <a:ea typeface="Calibri" pitchFamily="34" charset="-122"/>
                <a:cs typeface="Calibri" pitchFamily="34" charset="-120"/>
              </a:rPr>
              <a:t>Her story is at the heart of everything we built.</a:t>
            </a:r>
            <a:endParaRPr lang="en-US" sz="1300" dirty="0"/>
          </a:p>
        </p:txBody>
      </p:sp>
      <p:sp>
        <p:nvSpPr>
          <p:cNvPr id="10" name="Shape 8"/>
          <p:cNvSpPr/>
          <p:nvPr/>
        </p:nvSpPr>
        <p:spPr>
          <a:xfrm>
            <a:off x="4937760" y="1508760"/>
            <a:ext cx="3840480" cy="658368"/>
          </a:xfrm>
          <a:prstGeom prst="roundRect">
            <a:avLst>
              <a:gd name="adj" fmla="val 16667"/>
            </a:avLst>
          </a:prstGeom>
          <a:solidFill>
            <a:srgbClr val="FFFFFF"/>
          </a:solidFill>
          <a:ln w="12700">
            <a:solidFill>
              <a:srgbClr val="E9D5FF"/>
            </a:solidFill>
            <a:prstDash val="solid"/>
          </a:ln>
          <a:effectLst>
            <a:outerShdw sx="100000" sy="100000" kx="0" ky="0" algn="bl" rotWithShape="0" blurRad="50800" dist="25400" dir="2700000">
              <a:srgbClr val="000000">
                <a:alpha val="10000"/>
              </a:srgbClr>
            </a:outerShdw>
          </a:effectLst>
        </p:spPr>
      </p:sp>
      <p:sp>
        <p:nvSpPr>
          <p:cNvPr id="11" name="Text 9"/>
          <p:cNvSpPr/>
          <p:nvPr/>
        </p:nvSpPr>
        <p:spPr>
          <a:xfrm>
            <a:off x="5029200" y="1508760"/>
            <a:ext cx="365760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  Irregular menstrual cycles she can't track</a:t>
            </a:r>
            <a:endParaRPr lang="en-US" sz="1200" dirty="0"/>
          </a:p>
        </p:txBody>
      </p:sp>
      <p:sp>
        <p:nvSpPr>
          <p:cNvPr id="12" name="Shape 10"/>
          <p:cNvSpPr/>
          <p:nvPr/>
        </p:nvSpPr>
        <p:spPr>
          <a:xfrm>
            <a:off x="4937760" y="2313432"/>
            <a:ext cx="3840480" cy="658368"/>
          </a:xfrm>
          <a:prstGeom prst="roundRect">
            <a:avLst>
              <a:gd name="adj" fmla="val 16667"/>
            </a:avLst>
          </a:prstGeom>
          <a:solidFill>
            <a:srgbClr val="FFFFFF"/>
          </a:solidFill>
          <a:ln w="12700">
            <a:solidFill>
              <a:srgbClr val="E9D5FF"/>
            </a:solidFill>
            <a:prstDash val="solid"/>
          </a:ln>
          <a:effectLst>
            <a:outerShdw sx="100000" sy="100000" kx="0" ky="0" algn="bl" rotWithShape="0" blurRad="50800" dist="25400" dir="2700000">
              <a:srgbClr val="000000">
                <a:alpha val="10000"/>
              </a:srgbClr>
            </a:outerShdw>
          </a:effectLst>
        </p:spPr>
      </p:sp>
      <p:sp>
        <p:nvSpPr>
          <p:cNvPr id="13" name="Text 11"/>
          <p:cNvSpPr/>
          <p:nvPr/>
        </p:nvSpPr>
        <p:spPr>
          <a:xfrm>
            <a:off x="5029200" y="2313432"/>
            <a:ext cx="365760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  Stress &amp; anxiety with no outlet</a:t>
            </a:r>
            <a:endParaRPr lang="en-US" sz="1200" dirty="0"/>
          </a:p>
        </p:txBody>
      </p:sp>
      <p:sp>
        <p:nvSpPr>
          <p:cNvPr id="14" name="Shape 12"/>
          <p:cNvSpPr/>
          <p:nvPr/>
        </p:nvSpPr>
        <p:spPr>
          <a:xfrm>
            <a:off x="4937760" y="3118104"/>
            <a:ext cx="3840480" cy="658368"/>
          </a:xfrm>
          <a:prstGeom prst="roundRect">
            <a:avLst>
              <a:gd name="adj" fmla="val 16667"/>
            </a:avLst>
          </a:prstGeom>
          <a:solidFill>
            <a:srgbClr val="FFFFFF"/>
          </a:solidFill>
          <a:ln w="12700">
            <a:solidFill>
              <a:srgbClr val="E9D5FF"/>
            </a:solidFill>
            <a:prstDash val="solid"/>
          </a:ln>
          <a:effectLst>
            <a:outerShdw sx="100000" sy="100000" kx="0" ky="0" algn="bl" rotWithShape="0" blurRad="50800" dist="25400" dir="2700000">
              <a:srgbClr val="000000">
                <a:alpha val="10000"/>
              </a:srgbClr>
            </a:outerShdw>
          </a:effectLst>
        </p:spPr>
      </p:sp>
      <p:sp>
        <p:nvSpPr>
          <p:cNvPr id="15" name="Text 13"/>
          <p:cNvSpPr/>
          <p:nvPr/>
        </p:nvSpPr>
        <p:spPr>
          <a:xfrm>
            <a:off x="5029200" y="3118104"/>
            <a:ext cx="365760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  Health misinformation online</a:t>
            </a:r>
            <a:endParaRPr lang="en-US" sz="1200" dirty="0"/>
          </a:p>
        </p:txBody>
      </p:sp>
      <p:sp>
        <p:nvSpPr>
          <p:cNvPr id="16" name="Shape 14"/>
          <p:cNvSpPr/>
          <p:nvPr/>
        </p:nvSpPr>
        <p:spPr>
          <a:xfrm>
            <a:off x="4937760" y="3922776"/>
            <a:ext cx="3840480" cy="658368"/>
          </a:xfrm>
          <a:prstGeom prst="roundRect">
            <a:avLst>
              <a:gd name="adj" fmla="val 16667"/>
            </a:avLst>
          </a:prstGeom>
          <a:solidFill>
            <a:srgbClr val="FFFFFF"/>
          </a:solidFill>
          <a:ln w="12700">
            <a:solidFill>
              <a:srgbClr val="E9D5FF"/>
            </a:solidFill>
            <a:prstDash val="solid"/>
          </a:ln>
          <a:effectLst>
            <a:outerShdw sx="100000" sy="100000" kx="0" ky="0" algn="bl" rotWithShape="0" blurRad="50800" dist="25400" dir="2700000">
              <a:srgbClr val="000000">
                <a:alpha val="10000"/>
              </a:srgbClr>
            </a:outerShdw>
          </a:effectLst>
        </p:spPr>
      </p:sp>
      <p:sp>
        <p:nvSpPr>
          <p:cNvPr id="17" name="Text 15"/>
          <p:cNvSpPr/>
          <p:nvPr/>
        </p:nvSpPr>
        <p:spPr>
          <a:xfrm>
            <a:off x="5029200" y="3922776"/>
            <a:ext cx="365760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  Personal safety on the streets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2185B"/>
          </a:solidFill>
          <a:ln w="12700">
            <a:solidFill>
              <a:srgbClr val="C2185B"/>
            </a:solidFill>
            <a:prstDash val="solid"/>
          </a:ln>
        </p:spPr>
      </p:sp>
      <p:sp>
        <p:nvSpPr>
          <p:cNvPr id="3" name="Shape 1"/>
          <p:cNvSpPr/>
          <p:nvPr/>
        </p:nvSpPr>
        <p:spPr>
          <a:xfrm>
            <a:off x="320040" y="228600"/>
            <a:ext cx="731520" cy="731520"/>
          </a:xfrm>
          <a:prstGeom prst="ellipse">
            <a:avLst/>
          </a:prstGeom>
          <a:solidFill>
            <a:srgbClr val="C2185B"/>
          </a:solidFill>
          <a:ln w="12700">
            <a:solidFill>
              <a:srgbClr val="C2185B"/>
            </a:solidFill>
            <a:prstDash val="solid"/>
          </a:ln>
        </p:spPr>
      </p:sp>
      <p:sp>
        <p:nvSpPr>
          <p:cNvPr id="4" name="Text 2"/>
          <p:cNvSpPr/>
          <p:nvPr/>
        </p:nvSpPr>
        <p:spPr>
          <a:xfrm>
            <a:off x="320040" y="228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1188720" y="228600"/>
            <a:ext cx="6858000" cy="502920"/>
          </a:xfrm>
          <a:prstGeom prst="rect">
            <a:avLst/>
          </a:prstGeom>
          <a:noFill/>
          <a:ln/>
        </p:spPr>
        <p:txBody>
          <a:bodyPr wrap="square" lIns="0" tIns="0" rIns="0" bIns="0" rtlCol="0" anchor="ctr"/>
          <a:lstStyle/>
          <a:p>
            <a:pPr indent="0" marL="0">
              <a:buNone/>
            </a:pPr>
            <a:r>
              <a:rPr lang="en-US" sz="2600" b="1" dirty="0">
                <a:solidFill>
                  <a:srgbClr val="2D1B4E"/>
                </a:solidFill>
                <a:latin typeface="Cambria" pitchFamily="34" charset="0"/>
                <a:ea typeface="Cambria" pitchFamily="34" charset="-122"/>
                <a:cs typeface="Cambria" pitchFamily="34" charset="-120"/>
              </a:rPr>
              <a:t>Irregular Menstrual Cycles</a:t>
            </a:r>
            <a:endParaRPr lang="en-US" sz="2600" dirty="0"/>
          </a:p>
        </p:txBody>
      </p:sp>
      <p:sp>
        <p:nvSpPr>
          <p:cNvPr id="6" name="Text 4"/>
          <p:cNvSpPr/>
          <p:nvPr/>
        </p:nvSpPr>
        <p:spPr>
          <a:xfrm>
            <a:off x="1188720" y="749808"/>
            <a:ext cx="6858000" cy="41148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Asha notices her cycle becoming irregular — and has no way to understand her own body.</a:t>
            </a:r>
            <a:endParaRPr lang="en-US" sz="1300" dirty="0"/>
          </a:p>
        </p:txBody>
      </p:sp>
      <p:sp>
        <p:nvSpPr>
          <p:cNvPr id="7" name="Shape 5"/>
          <p:cNvSpPr/>
          <p:nvPr/>
        </p:nvSpPr>
        <p:spPr>
          <a:xfrm>
            <a:off x="320040" y="1325880"/>
            <a:ext cx="3977640" cy="3383280"/>
          </a:xfrm>
          <a:prstGeom prst="roundRect">
            <a:avLst>
              <a:gd name="adj" fmla="val 4054"/>
            </a:avLst>
          </a:prstGeom>
          <a:solidFill>
            <a:srgbClr val="FFF0F5"/>
          </a:solidFill>
          <a:ln w="12700">
            <a:solidFill>
              <a:srgbClr val="FECDD3"/>
            </a:solidFill>
            <a:prstDash val="solid"/>
          </a:ln>
          <a:effectLst>
            <a:outerShdw sx="100000" sy="100000" kx="0" ky="0" algn="bl" rotWithShape="0" blurRad="101600" dist="38100" dir="2700000">
              <a:srgbClr val="000000">
                <a:alpha val="18000"/>
              </a:srgbClr>
            </a:outerShdw>
          </a:effectLst>
        </p:spPr>
      </p:sp>
      <p:sp>
        <p:nvSpPr>
          <p:cNvPr id="8" name="Shape 6"/>
          <p:cNvSpPr/>
          <p:nvPr/>
        </p:nvSpPr>
        <p:spPr>
          <a:xfrm>
            <a:off x="1901952" y="1417320"/>
            <a:ext cx="822960" cy="822960"/>
          </a:xfrm>
          <a:prstGeom prst="ellipse">
            <a:avLst/>
          </a:prstGeom>
          <a:solidFill>
            <a:srgbClr val="C2185B"/>
          </a:solidFill>
          <a:ln w="12700">
            <a:solidFill>
              <a:srgbClr val="C2185B"/>
            </a:solidFill>
            <a:prstDash val="solid"/>
          </a:ln>
        </p:spPr>
      </p:sp>
      <p:sp>
        <p:nvSpPr>
          <p:cNvPr id="9" name="Text 7"/>
          <p:cNvSpPr/>
          <p:nvPr/>
        </p:nvSpPr>
        <p:spPr>
          <a:xfrm>
            <a:off x="1901952" y="1417320"/>
            <a:ext cx="82296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502920" y="2331720"/>
            <a:ext cx="3611880" cy="365760"/>
          </a:xfrm>
          <a:prstGeom prst="rect">
            <a:avLst/>
          </a:prstGeom>
          <a:noFill/>
          <a:ln/>
        </p:spPr>
        <p:txBody>
          <a:bodyPr wrap="square" lIns="0" tIns="0" rIns="0" bIns="0" rtlCol="0" anchor="ctr"/>
          <a:lstStyle/>
          <a:p>
            <a:pPr algn="ctr" indent="0" marL="0">
              <a:buNone/>
            </a:pPr>
            <a:r>
              <a:rPr lang="en-US" sz="1300" b="1" spc="200" kern="0" dirty="0">
                <a:solidFill>
                  <a:srgbClr val="C2185B"/>
                </a:solidFill>
                <a:latin typeface="Calibri" pitchFamily="34" charset="0"/>
                <a:ea typeface="Calibri" pitchFamily="34" charset="-122"/>
                <a:cs typeface="Calibri" pitchFamily="34" charset="-120"/>
              </a:rPr>
              <a:t>THE FRICTION</a:t>
            </a:r>
            <a:endParaRPr lang="en-US" sz="1300" dirty="0"/>
          </a:p>
        </p:txBody>
      </p:sp>
      <p:sp>
        <p:nvSpPr>
          <p:cNvPr id="11" name="Shape 9"/>
          <p:cNvSpPr/>
          <p:nvPr/>
        </p:nvSpPr>
        <p:spPr>
          <a:xfrm>
            <a:off x="457200" y="2788920"/>
            <a:ext cx="3703320" cy="365760"/>
          </a:xfrm>
          <a:prstGeom prst="roundRect">
            <a:avLst>
              <a:gd name="adj" fmla="val 20000"/>
            </a:avLst>
          </a:prstGeom>
          <a:solidFill>
            <a:srgbClr val="FFE4E6"/>
          </a:solidFill>
          <a:ln w="12700">
            <a:solidFill>
              <a:srgbClr val="FCA5A5"/>
            </a:solidFill>
            <a:prstDash val="solid"/>
          </a:ln>
        </p:spPr>
      </p:sp>
      <p:sp>
        <p:nvSpPr>
          <p:cNvPr id="12" name="Text 10"/>
          <p:cNvSpPr/>
          <p:nvPr/>
        </p:nvSpPr>
        <p:spPr>
          <a:xfrm>
            <a:off x="548640" y="2788920"/>
            <a:ext cx="3566160" cy="365760"/>
          </a:xfrm>
          <a:prstGeom prst="rect">
            <a:avLst/>
          </a:prstGeom>
          <a:noFill/>
          <a:ln/>
        </p:spPr>
        <p:txBody>
          <a:bodyPr wrap="square" lIns="0" tIns="0" rIns="0" bIns="0" rtlCol="0" anchor="ctr"/>
          <a:lstStyle/>
          <a:p>
            <a:pPr indent="0" marL="0">
              <a:buNone/>
            </a:pPr>
            <a:r>
              <a:rPr lang="en-US" sz="1100" dirty="0">
                <a:solidFill>
                  <a:srgbClr val="C2185B"/>
                </a:solidFill>
                <a:latin typeface="Calibri" pitchFamily="34" charset="0"/>
                <a:ea typeface="Calibri" pitchFamily="34" charset="-122"/>
                <a:cs typeface="Calibri" pitchFamily="34" charset="-120"/>
              </a:rPr>
              <a:t>✗  She forgets her previous cycle dates</a:t>
            </a:r>
            <a:endParaRPr lang="en-US" sz="1100" dirty="0"/>
          </a:p>
        </p:txBody>
      </p:sp>
      <p:sp>
        <p:nvSpPr>
          <p:cNvPr id="13" name="Shape 11"/>
          <p:cNvSpPr/>
          <p:nvPr/>
        </p:nvSpPr>
        <p:spPr>
          <a:xfrm>
            <a:off x="457200" y="3246120"/>
            <a:ext cx="3703320" cy="365760"/>
          </a:xfrm>
          <a:prstGeom prst="roundRect">
            <a:avLst>
              <a:gd name="adj" fmla="val 20000"/>
            </a:avLst>
          </a:prstGeom>
          <a:solidFill>
            <a:srgbClr val="FFE4E6"/>
          </a:solidFill>
          <a:ln w="12700">
            <a:solidFill>
              <a:srgbClr val="FCA5A5"/>
            </a:solidFill>
            <a:prstDash val="solid"/>
          </a:ln>
        </p:spPr>
      </p:sp>
      <p:sp>
        <p:nvSpPr>
          <p:cNvPr id="14" name="Text 12"/>
          <p:cNvSpPr/>
          <p:nvPr/>
        </p:nvSpPr>
        <p:spPr>
          <a:xfrm>
            <a:off x="548640" y="3246120"/>
            <a:ext cx="3566160" cy="365760"/>
          </a:xfrm>
          <a:prstGeom prst="rect">
            <a:avLst/>
          </a:prstGeom>
          <a:noFill/>
          <a:ln/>
        </p:spPr>
        <p:txBody>
          <a:bodyPr wrap="square" lIns="0" tIns="0" rIns="0" bIns="0" rtlCol="0" anchor="ctr"/>
          <a:lstStyle/>
          <a:p>
            <a:pPr indent="0" marL="0">
              <a:buNone/>
            </a:pPr>
            <a:r>
              <a:rPr lang="en-US" sz="1100" dirty="0">
                <a:solidFill>
                  <a:srgbClr val="C2185B"/>
                </a:solidFill>
                <a:latin typeface="Calibri" pitchFamily="34" charset="0"/>
                <a:ea typeface="Calibri" pitchFamily="34" charset="-122"/>
                <a:cs typeface="Calibri" pitchFamily="34" charset="-120"/>
              </a:rPr>
              <a:t>✗  Doesn't know when her next period is due</a:t>
            </a:r>
            <a:endParaRPr lang="en-US" sz="1100" dirty="0"/>
          </a:p>
        </p:txBody>
      </p:sp>
      <p:sp>
        <p:nvSpPr>
          <p:cNvPr id="15" name="Shape 13"/>
          <p:cNvSpPr/>
          <p:nvPr/>
        </p:nvSpPr>
        <p:spPr>
          <a:xfrm>
            <a:off x="457200" y="3703320"/>
            <a:ext cx="3703320" cy="365760"/>
          </a:xfrm>
          <a:prstGeom prst="roundRect">
            <a:avLst>
              <a:gd name="adj" fmla="val 20000"/>
            </a:avLst>
          </a:prstGeom>
          <a:solidFill>
            <a:srgbClr val="FFE4E6"/>
          </a:solidFill>
          <a:ln w="12700">
            <a:solidFill>
              <a:srgbClr val="FCA5A5"/>
            </a:solidFill>
            <a:prstDash val="solid"/>
          </a:ln>
        </p:spPr>
      </p:sp>
      <p:sp>
        <p:nvSpPr>
          <p:cNvPr id="16" name="Text 14"/>
          <p:cNvSpPr/>
          <p:nvPr/>
        </p:nvSpPr>
        <p:spPr>
          <a:xfrm>
            <a:off x="548640" y="3703320"/>
            <a:ext cx="3566160" cy="365760"/>
          </a:xfrm>
          <a:prstGeom prst="rect">
            <a:avLst/>
          </a:prstGeom>
          <a:noFill/>
          <a:ln/>
        </p:spPr>
        <p:txBody>
          <a:bodyPr wrap="square" lIns="0" tIns="0" rIns="0" bIns="0" rtlCol="0" anchor="ctr"/>
          <a:lstStyle/>
          <a:p>
            <a:pPr indent="0" marL="0">
              <a:buNone/>
            </a:pPr>
            <a:r>
              <a:rPr lang="en-US" sz="1100" dirty="0">
                <a:solidFill>
                  <a:srgbClr val="C2185B"/>
                </a:solidFill>
                <a:latin typeface="Calibri" pitchFamily="34" charset="0"/>
                <a:ea typeface="Calibri" pitchFamily="34" charset="-122"/>
                <a:cs typeface="Calibri" pitchFamily="34" charset="-120"/>
              </a:rPr>
              <a:t>✗  Symptoms like fatigue &amp; mood swings feel random</a:t>
            </a:r>
            <a:endParaRPr lang="en-US" sz="1100" dirty="0"/>
          </a:p>
        </p:txBody>
      </p:sp>
      <p:sp>
        <p:nvSpPr>
          <p:cNvPr id="17" name="Shape 15"/>
          <p:cNvSpPr/>
          <p:nvPr/>
        </p:nvSpPr>
        <p:spPr>
          <a:xfrm>
            <a:off x="457200" y="4160520"/>
            <a:ext cx="3703320" cy="365760"/>
          </a:xfrm>
          <a:prstGeom prst="roundRect">
            <a:avLst>
              <a:gd name="adj" fmla="val 20000"/>
            </a:avLst>
          </a:prstGeom>
          <a:solidFill>
            <a:srgbClr val="FFE4E6"/>
          </a:solidFill>
          <a:ln w="12700">
            <a:solidFill>
              <a:srgbClr val="FCA5A5"/>
            </a:solidFill>
            <a:prstDash val="solid"/>
          </a:ln>
        </p:spPr>
      </p:sp>
      <p:sp>
        <p:nvSpPr>
          <p:cNvPr id="18" name="Text 16"/>
          <p:cNvSpPr/>
          <p:nvPr/>
        </p:nvSpPr>
        <p:spPr>
          <a:xfrm>
            <a:off x="548640" y="4160520"/>
            <a:ext cx="3566160" cy="365760"/>
          </a:xfrm>
          <a:prstGeom prst="rect">
            <a:avLst/>
          </a:prstGeom>
          <a:noFill/>
          <a:ln/>
        </p:spPr>
        <p:txBody>
          <a:bodyPr wrap="square" lIns="0" tIns="0" rIns="0" bIns="0" rtlCol="0" anchor="ctr"/>
          <a:lstStyle/>
          <a:p>
            <a:pPr indent="0" marL="0">
              <a:buNone/>
            </a:pPr>
            <a:r>
              <a:rPr lang="en-US" sz="1100" dirty="0">
                <a:solidFill>
                  <a:srgbClr val="C2185B"/>
                </a:solidFill>
                <a:latin typeface="Calibri" pitchFamily="34" charset="0"/>
                <a:ea typeface="Calibri" pitchFamily="34" charset="-122"/>
                <a:cs typeface="Calibri" pitchFamily="34" charset="-120"/>
              </a:rPr>
              <a:t>✗  No context to understand what's happening</a:t>
            </a:r>
            <a:endParaRPr lang="en-US" sz="1100" dirty="0"/>
          </a:p>
        </p:txBody>
      </p:sp>
      <p:sp>
        <p:nvSpPr>
          <p:cNvPr id="19" name="Shape 17"/>
          <p:cNvSpPr/>
          <p:nvPr/>
        </p:nvSpPr>
        <p:spPr>
          <a:xfrm>
            <a:off x="4617720" y="1325880"/>
            <a:ext cx="4160520" cy="3383280"/>
          </a:xfrm>
          <a:prstGeom prst="roundRect">
            <a:avLst>
              <a:gd name="adj" fmla="val 4054"/>
            </a:avLst>
          </a:prstGeom>
          <a:solidFill>
            <a:srgbClr val="F0FDF4"/>
          </a:solidFill>
          <a:ln w="12700">
            <a:solidFill>
              <a:srgbClr val="A7F3D0"/>
            </a:solidFill>
            <a:prstDash val="solid"/>
          </a:ln>
          <a:effectLst>
            <a:outerShdw sx="100000" sy="100000" kx="0" ky="0" algn="bl" rotWithShape="0" blurRad="101600" dist="38100" dir="2700000">
              <a:srgbClr val="000000">
                <a:alpha val="18000"/>
              </a:srgbClr>
            </a:outerShdw>
          </a:effectLst>
        </p:spPr>
      </p:sp>
      <p:sp>
        <p:nvSpPr>
          <p:cNvPr id="20" name="Shape 18"/>
          <p:cNvSpPr/>
          <p:nvPr/>
        </p:nvSpPr>
        <p:spPr>
          <a:xfrm>
            <a:off x="6492240" y="1417320"/>
            <a:ext cx="822960" cy="822960"/>
          </a:xfrm>
          <a:prstGeom prst="ellipse">
            <a:avLst/>
          </a:prstGeom>
          <a:solidFill>
            <a:srgbClr val="059669"/>
          </a:solidFill>
          <a:ln w="12700">
            <a:solidFill>
              <a:srgbClr val="059669"/>
            </a:solidFill>
            <a:prstDash val="solid"/>
          </a:ln>
        </p:spPr>
      </p:sp>
      <p:sp>
        <p:nvSpPr>
          <p:cNvPr id="21" name="Text 19"/>
          <p:cNvSpPr/>
          <p:nvPr/>
        </p:nvSpPr>
        <p:spPr>
          <a:xfrm>
            <a:off x="6492240" y="1417320"/>
            <a:ext cx="822960" cy="822960"/>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22" name="Text 20"/>
          <p:cNvSpPr/>
          <p:nvPr/>
        </p:nvSpPr>
        <p:spPr>
          <a:xfrm>
            <a:off x="4800600" y="2331720"/>
            <a:ext cx="3794760" cy="365760"/>
          </a:xfrm>
          <a:prstGeom prst="rect">
            <a:avLst/>
          </a:prstGeom>
          <a:noFill/>
          <a:ln/>
        </p:spPr>
        <p:txBody>
          <a:bodyPr wrap="square" lIns="0" tIns="0" rIns="0" bIns="0" rtlCol="0" anchor="ctr"/>
          <a:lstStyle/>
          <a:p>
            <a:pPr algn="ctr" indent="0" marL="0">
              <a:buNone/>
            </a:pPr>
            <a:r>
              <a:rPr lang="en-US" sz="1300" b="1" spc="200" kern="0" dirty="0">
                <a:solidFill>
                  <a:srgbClr val="059669"/>
                </a:solidFill>
                <a:latin typeface="Calibri" pitchFamily="34" charset="0"/>
                <a:ea typeface="Calibri" pitchFamily="34" charset="-122"/>
                <a:cs typeface="Calibri" pitchFamily="34" charset="-120"/>
              </a:rPr>
              <a:t>OUR SOLUTION</a:t>
            </a:r>
            <a:endParaRPr lang="en-US" sz="1300" dirty="0"/>
          </a:p>
        </p:txBody>
      </p:sp>
      <p:sp>
        <p:nvSpPr>
          <p:cNvPr id="23" name="Shape 21"/>
          <p:cNvSpPr/>
          <p:nvPr/>
        </p:nvSpPr>
        <p:spPr>
          <a:xfrm>
            <a:off x="4754880" y="2788920"/>
            <a:ext cx="3840480" cy="365760"/>
          </a:xfrm>
          <a:prstGeom prst="roundRect">
            <a:avLst>
              <a:gd name="adj" fmla="val 20000"/>
            </a:avLst>
          </a:prstGeom>
          <a:solidFill>
            <a:srgbClr val="D1FAE5"/>
          </a:solidFill>
          <a:ln w="12700">
            <a:solidFill>
              <a:srgbClr val="6EE7B7"/>
            </a:solidFill>
            <a:prstDash val="solid"/>
          </a:ln>
        </p:spPr>
      </p:sp>
      <p:sp>
        <p:nvSpPr>
          <p:cNvPr id="24" name="Text 22"/>
          <p:cNvSpPr/>
          <p:nvPr/>
        </p:nvSpPr>
        <p:spPr>
          <a:xfrm>
            <a:off x="4846320" y="2788920"/>
            <a:ext cx="3657600" cy="365760"/>
          </a:xfrm>
          <a:prstGeom prst="rect">
            <a:avLst/>
          </a:prstGeom>
          <a:noFill/>
          <a:ln/>
        </p:spPr>
        <p:txBody>
          <a:bodyPr wrap="square" lIns="0" tIns="0" rIns="0" bIns="0"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Easy cycle date logging</a:t>
            </a:r>
            <a:endParaRPr lang="en-US" sz="1100" dirty="0"/>
          </a:p>
        </p:txBody>
      </p:sp>
      <p:sp>
        <p:nvSpPr>
          <p:cNvPr id="25" name="Shape 23"/>
          <p:cNvSpPr/>
          <p:nvPr/>
        </p:nvSpPr>
        <p:spPr>
          <a:xfrm>
            <a:off x="4754880" y="3246120"/>
            <a:ext cx="3840480" cy="365760"/>
          </a:xfrm>
          <a:prstGeom prst="roundRect">
            <a:avLst>
              <a:gd name="adj" fmla="val 20000"/>
            </a:avLst>
          </a:prstGeom>
          <a:solidFill>
            <a:srgbClr val="D1FAE5"/>
          </a:solidFill>
          <a:ln w="12700">
            <a:solidFill>
              <a:srgbClr val="6EE7B7"/>
            </a:solidFill>
            <a:prstDash val="solid"/>
          </a:ln>
        </p:spPr>
      </p:sp>
      <p:sp>
        <p:nvSpPr>
          <p:cNvPr id="26" name="Text 24"/>
          <p:cNvSpPr/>
          <p:nvPr/>
        </p:nvSpPr>
        <p:spPr>
          <a:xfrm>
            <a:off x="4846320" y="3246120"/>
            <a:ext cx="3657600" cy="365760"/>
          </a:xfrm>
          <a:prstGeom prst="rect">
            <a:avLst/>
          </a:prstGeom>
          <a:noFill/>
          <a:ln/>
        </p:spPr>
        <p:txBody>
          <a:bodyPr wrap="square" lIns="0" tIns="0" rIns="0" bIns="0"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Predict next period &amp; ovulation window</a:t>
            </a:r>
            <a:endParaRPr lang="en-US" sz="1100" dirty="0"/>
          </a:p>
        </p:txBody>
      </p:sp>
      <p:sp>
        <p:nvSpPr>
          <p:cNvPr id="27" name="Shape 25"/>
          <p:cNvSpPr/>
          <p:nvPr/>
        </p:nvSpPr>
        <p:spPr>
          <a:xfrm>
            <a:off x="4754880" y="3703320"/>
            <a:ext cx="3840480" cy="365760"/>
          </a:xfrm>
          <a:prstGeom prst="roundRect">
            <a:avLst>
              <a:gd name="adj" fmla="val 20000"/>
            </a:avLst>
          </a:prstGeom>
          <a:solidFill>
            <a:srgbClr val="D1FAE5"/>
          </a:solidFill>
          <a:ln w="12700">
            <a:solidFill>
              <a:srgbClr val="6EE7B7"/>
            </a:solidFill>
            <a:prstDash val="solid"/>
          </a:ln>
        </p:spPr>
      </p:sp>
      <p:sp>
        <p:nvSpPr>
          <p:cNvPr id="28" name="Text 26"/>
          <p:cNvSpPr/>
          <p:nvPr/>
        </p:nvSpPr>
        <p:spPr>
          <a:xfrm>
            <a:off x="4846320" y="3703320"/>
            <a:ext cx="3657600" cy="365760"/>
          </a:xfrm>
          <a:prstGeom prst="rect">
            <a:avLst/>
          </a:prstGeom>
          <a:noFill/>
          <a:ln/>
        </p:spPr>
        <p:txBody>
          <a:bodyPr wrap="square" lIns="0" tIns="0" rIns="0" bIns="0"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Record &amp; visualize symptoms beautifully</a:t>
            </a:r>
            <a:endParaRPr lang="en-US" sz="1100" dirty="0"/>
          </a:p>
        </p:txBody>
      </p:sp>
      <p:sp>
        <p:nvSpPr>
          <p:cNvPr id="29" name="Shape 27"/>
          <p:cNvSpPr/>
          <p:nvPr/>
        </p:nvSpPr>
        <p:spPr>
          <a:xfrm>
            <a:off x="4754880" y="4160520"/>
            <a:ext cx="3840480" cy="365760"/>
          </a:xfrm>
          <a:prstGeom prst="roundRect">
            <a:avLst>
              <a:gd name="adj" fmla="val 20000"/>
            </a:avLst>
          </a:prstGeom>
          <a:solidFill>
            <a:srgbClr val="D1FAE5"/>
          </a:solidFill>
          <a:ln w="12700">
            <a:solidFill>
              <a:srgbClr val="6EE7B7"/>
            </a:solidFill>
            <a:prstDash val="solid"/>
          </a:ln>
        </p:spPr>
      </p:sp>
      <p:sp>
        <p:nvSpPr>
          <p:cNvPr id="30" name="Text 28"/>
          <p:cNvSpPr/>
          <p:nvPr/>
        </p:nvSpPr>
        <p:spPr>
          <a:xfrm>
            <a:off x="4846320" y="4160520"/>
            <a:ext cx="3657600" cy="365760"/>
          </a:xfrm>
          <a:prstGeom prst="rect">
            <a:avLst/>
          </a:prstGeom>
          <a:noFill/>
          <a:ln/>
        </p:spPr>
        <p:txBody>
          <a:bodyPr wrap="square" lIns="0" tIns="0" rIns="0" bIns="0"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Track cycle history with charts</a:t>
            </a:r>
            <a:endParaRPr lang="en-US" sz="1100" dirty="0"/>
          </a:p>
        </p:txBody>
      </p:sp>
      <p:sp>
        <p:nvSpPr>
          <p:cNvPr id="31" name="Shape 29"/>
          <p:cNvSpPr/>
          <p:nvPr/>
        </p:nvSpPr>
        <p:spPr>
          <a:xfrm>
            <a:off x="320040" y="4663440"/>
            <a:ext cx="8458200" cy="347472"/>
          </a:xfrm>
          <a:prstGeom prst="roundRect">
            <a:avLst>
              <a:gd name="adj" fmla="val 26316"/>
            </a:avLst>
          </a:prstGeom>
          <a:solidFill>
            <a:srgbClr val="EDE7F6"/>
          </a:solidFill>
          <a:ln w="12700">
            <a:solidFill>
              <a:srgbClr val="C4B5FD"/>
            </a:solidFill>
            <a:prstDash val="solid"/>
          </a:ln>
        </p:spPr>
      </p:sp>
      <p:sp>
        <p:nvSpPr>
          <p:cNvPr id="32" name="Text 30"/>
          <p:cNvSpPr/>
          <p:nvPr/>
        </p:nvSpPr>
        <p:spPr>
          <a:xfrm>
            <a:off x="365760" y="4663440"/>
            <a:ext cx="8366760" cy="347472"/>
          </a:xfrm>
          <a:prstGeom prst="rect">
            <a:avLst/>
          </a:prstGeom>
          <a:noFill/>
          <a:ln/>
        </p:spPr>
        <p:txBody>
          <a:bodyPr wrap="square" lIns="0" tIns="0" rIns="0" bIns="0" rtlCol="0" anchor="ctr"/>
          <a:lstStyle/>
          <a:p>
            <a:pPr algn="ctr" indent="0" marL="0">
              <a:buNone/>
            </a:pPr>
            <a:r>
              <a:rPr lang="en-US" sz="950" dirty="0">
                <a:solidFill>
                  <a:srgbClr val="2D1B4E"/>
                </a:solidFill>
                <a:latin typeface="Courier New" pitchFamily="34" charset="0"/>
                <a:ea typeface="Courier New" pitchFamily="34" charset="-122"/>
                <a:cs typeface="Courier New" pitchFamily="34" charset="-120"/>
              </a:rPr>
              <a:t>Formula: Predicted Date = Last Cycle Date + Avg. Cycle Length  |  Ovulation = Predicted − 14  |  Fertile Window = Ovulation ± 5 days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6400800" y="-914400"/>
            <a:ext cx="4572000" cy="4572000"/>
          </a:xfrm>
          <a:prstGeom prst="ellipse">
            <a:avLst/>
          </a:prstGeom>
          <a:solidFill>
            <a:srgbClr val="7B2D8B">
              <a:alpha val="20000"/>
            </a:srgbClr>
          </a:solidFill>
          <a:ln w="12700">
            <a:solidFill>
              <a:srgbClr val="7B2D8B">
                <a:alpha val="20000"/>
              </a:srgbClr>
            </a:solidFill>
            <a:prstDash val="solid"/>
          </a:ln>
        </p:spPr>
      </p:sp>
      <p:sp>
        <p:nvSpPr>
          <p:cNvPr id="3" name="Shape 1"/>
          <p:cNvSpPr/>
          <p:nvPr/>
        </p:nvSpPr>
        <p:spPr>
          <a:xfrm>
            <a:off x="365760" y="256032"/>
            <a:ext cx="749808" cy="749808"/>
          </a:xfrm>
          <a:prstGeom prst="ellipse">
            <a:avLst/>
          </a:prstGeom>
          <a:solidFill>
            <a:srgbClr val="F59E0B"/>
          </a:solidFill>
          <a:ln w="12700">
            <a:solidFill>
              <a:srgbClr val="F59E0B"/>
            </a:solidFill>
            <a:prstDash val="solid"/>
          </a:ln>
        </p:spPr>
      </p:sp>
      <p:sp>
        <p:nvSpPr>
          <p:cNvPr id="4" name="Text 2"/>
          <p:cNvSpPr/>
          <p:nvPr/>
        </p:nvSpPr>
        <p:spPr>
          <a:xfrm>
            <a:off x="365760" y="256032"/>
            <a:ext cx="749808" cy="749808"/>
          </a:xfrm>
          <a:prstGeom prst="rect">
            <a:avLst/>
          </a:prstGeom>
          <a:noFill/>
          <a:ln/>
        </p:spPr>
        <p:txBody>
          <a:bodyPr wrap="square" lIns="0" tIns="0" rIns="0" bIns="0"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2</a:t>
            </a:r>
            <a:endParaRPr lang="en-US" sz="2200" dirty="0"/>
          </a:p>
        </p:txBody>
      </p:sp>
      <p:sp>
        <p:nvSpPr>
          <p:cNvPr id="5" name="Text 3"/>
          <p:cNvSpPr/>
          <p:nvPr/>
        </p:nvSpPr>
        <p:spPr>
          <a:xfrm>
            <a:off x="1261872" y="274320"/>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Stress, Anxiety &amp; Mental Well-being</a:t>
            </a:r>
            <a:endParaRPr lang="en-US" sz="2600" dirty="0"/>
          </a:p>
        </p:txBody>
      </p:sp>
      <p:sp>
        <p:nvSpPr>
          <p:cNvPr id="6" name="Text 4"/>
          <p:cNvSpPr/>
          <p:nvPr/>
        </p:nvSpPr>
        <p:spPr>
          <a:xfrm>
            <a:off x="1261872" y="804672"/>
            <a:ext cx="7315200" cy="365760"/>
          </a:xfrm>
          <a:prstGeom prst="rect">
            <a:avLst/>
          </a:prstGeom>
          <a:noFill/>
          <a:ln/>
        </p:spPr>
        <p:txBody>
          <a:bodyPr wrap="square" lIns="0" tIns="0" rIns="0" bIns="0" rtlCol="0" anchor="ctr"/>
          <a:lstStyle/>
          <a:p>
            <a:pPr indent="0" marL="0">
              <a:buNone/>
            </a:pPr>
            <a:r>
              <a:rPr lang="en-US" sz="1300" i="1" dirty="0">
                <a:solidFill>
                  <a:srgbClr val="C4B5FD"/>
                </a:solidFill>
                <a:latin typeface="Calibri" pitchFamily="34" charset="0"/>
                <a:ea typeface="Calibri" pitchFamily="34" charset="-122"/>
                <a:cs typeface="Calibri" pitchFamily="34" charset="-120"/>
              </a:rPr>
              <a:t>During exam time, Asha faces heavy stress — and keeps it all inside.</a:t>
            </a:r>
            <a:endParaRPr lang="en-US" sz="1300" dirty="0"/>
          </a:p>
        </p:txBody>
      </p:sp>
      <p:sp>
        <p:nvSpPr>
          <p:cNvPr id="7" name="Shape 5"/>
          <p:cNvSpPr/>
          <p:nvPr/>
        </p:nvSpPr>
        <p:spPr>
          <a:xfrm>
            <a:off x="365760" y="1280160"/>
            <a:ext cx="8412480" cy="804672"/>
          </a:xfrm>
          <a:prstGeom prst="roundRect">
            <a:avLst>
              <a:gd name="adj" fmla="val 17045"/>
            </a:avLst>
          </a:prstGeom>
          <a:solidFill>
            <a:srgbClr val="7B2D8B">
              <a:alpha val="60000"/>
            </a:srgbClr>
          </a:solidFill>
          <a:ln w="12700">
            <a:solidFill>
              <a:srgbClr val="F8BBD9">
                <a:alpha val="50000"/>
              </a:srgbClr>
            </a:solidFill>
            <a:prstDash val="solid"/>
          </a:ln>
        </p:spPr>
      </p:sp>
      <p:sp>
        <p:nvSpPr>
          <p:cNvPr id="8" name="Text 6"/>
          <p:cNvSpPr/>
          <p:nvPr/>
        </p:nvSpPr>
        <p:spPr>
          <a:xfrm>
            <a:off x="457200" y="1280160"/>
            <a:ext cx="8229600" cy="804672"/>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 When you express your pain, it lessens. "</a:t>
            </a:r>
            <a:endParaRPr lang="en-US" sz="2000" dirty="0"/>
          </a:p>
        </p:txBody>
      </p:sp>
      <p:sp>
        <p:nvSpPr>
          <p:cNvPr id="9" name="Shape 7"/>
          <p:cNvSpPr/>
          <p:nvPr/>
        </p:nvSpPr>
        <p:spPr>
          <a:xfrm>
            <a:off x="365760" y="2331720"/>
            <a:ext cx="2743200" cy="2514600"/>
          </a:xfrm>
          <a:prstGeom prst="roundRect">
            <a:avLst>
              <a:gd name="adj" fmla="val 6545"/>
            </a:avLst>
          </a:prstGeom>
          <a:solidFill>
            <a:srgbClr val="1A1A2E"/>
          </a:solidFill>
          <a:ln w="12700">
            <a:solidFill>
              <a:srgbClr val="3D1A5C"/>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365760" y="2468880"/>
            <a:ext cx="27432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1" name="Text 9"/>
          <p:cNvSpPr/>
          <p:nvPr/>
        </p:nvSpPr>
        <p:spPr>
          <a:xfrm>
            <a:off x="457200" y="3154680"/>
            <a:ext cx="2560320" cy="45720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Daily Mood Logging</a:t>
            </a:r>
            <a:endParaRPr lang="en-US" sz="1300" dirty="0"/>
          </a:p>
        </p:txBody>
      </p:sp>
      <p:sp>
        <p:nvSpPr>
          <p:cNvPr id="12" name="Text 10"/>
          <p:cNvSpPr/>
          <p:nvPr/>
        </p:nvSpPr>
        <p:spPr>
          <a:xfrm>
            <a:off x="475488" y="3639312"/>
            <a:ext cx="2523744" cy="1097280"/>
          </a:xfrm>
          <a:prstGeom prst="rect">
            <a:avLst/>
          </a:prstGeom>
          <a:noFill/>
          <a:ln/>
        </p:spPr>
        <p:txBody>
          <a:bodyPr wrap="square" lIns="0" tIns="0" rIns="0" bIns="0" rtlCol="0" anchor="ctr"/>
          <a:lstStyle/>
          <a:p>
            <a:pPr algn="ctr" indent="0" marL="0">
              <a:buNone/>
            </a:pPr>
            <a:r>
              <a:rPr lang="en-US" sz="1100" dirty="0">
                <a:solidFill>
                  <a:srgbClr val="D1D5DB"/>
                </a:solidFill>
                <a:latin typeface="Calibri" pitchFamily="34" charset="0"/>
                <a:ea typeface="Calibri" pitchFamily="34" charset="-122"/>
                <a:cs typeface="Calibri" pitchFamily="34" charset="-120"/>
              </a:rPr>
              <a:t>Quick emoji + note to capture how she feels each day</a:t>
            </a:r>
            <a:endParaRPr lang="en-US" sz="1100" dirty="0"/>
          </a:p>
        </p:txBody>
      </p:sp>
      <p:sp>
        <p:nvSpPr>
          <p:cNvPr id="13" name="Shape 11"/>
          <p:cNvSpPr/>
          <p:nvPr/>
        </p:nvSpPr>
        <p:spPr>
          <a:xfrm>
            <a:off x="3291840" y="2331720"/>
            <a:ext cx="2743200" cy="2514600"/>
          </a:xfrm>
          <a:prstGeom prst="roundRect">
            <a:avLst>
              <a:gd name="adj" fmla="val 6545"/>
            </a:avLst>
          </a:prstGeom>
          <a:solidFill>
            <a:srgbClr val="1A1A2E"/>
          </a:solidFill>
          <a:ln w="12700">
            <a:solidFill>
              <a:srgbClr val="3D1A5C"/>
            </a:solidFill>
            <a:prstDash val="solid"/>
          </a:ln>
          <a:effectLst>
            <a:outerShdw sx="100000" sy="100000" kx="0" ky="0" algn="bl" rotWithShape="0" blurRad="101600" dist="38100" dir="2700000">
              <a:srgbClr val="000000">
                <a:alpha val="18000"/>
              </a:srgbClr>
            </a:outerShdw>
          </a:effectLst>
        </p:spPr>
      </p:sp>
      <p:sp>
        <p:nvSpPr>
          <p:cNvPr id="14" name="Text 12"/>
          <p:cNvSpPr/>
          <p:nvPr/>
        </p:nvSpPr>
        <p:spPr>
          <a:xfrm>
            <a:off x="3291840" y="2468880"/>
            <a:ext cx="27432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5" name="Text 13"/>
          <p:cNvSpPr/>
          <p:nvPr/>
        </p:nvSpPr>
        <p:spPr>
          <a:xfrm>
            <a:off x="3383280" y="3154680"/>
            <a:ext cx="2560320" cy="45720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Personal Journaling</a:t>
            </a:r>
            <a:endParaRPr lang="en-US" sz="1300" dirty="0"/>
          </a:p>
        </p:txBody>
      </p:sp>
      <p:sp>
        <p:nvSpPr>
          <p:cNvPr id="16" name="Text 14"/>
          <p:cNvSpPr/>
          <p:nvPr/>
        </p:nvSpPr>
        <p:spPr>
          <a:xfrm>
            <a:off x="3401568" y="3639312"/>
            <a:ext cx="2523744" cy="1097280"/>
          </a:xfrm>
          <a:prstGeom prst="rect">
            <a:avLst/>
          </a:prstGeom>
          <a:noFill/>
          <a:ln/>
        </p:spPr>
        <p:txBody>
          <a:bodyPr wrap="square" lIns="0" tIns="0" rIns="0" bIns="0" rtlCol="0" anchor="ctr"/>
          <a:lstStyle/>
          <a:p>
            <a:pPr algn="ctr" indent="0" marL="0">
              <a:buNone/>
            </a:pPr>
            <a:r>
              <a:rPr lang="en-US" sz="1100" dirty="0">
                <a:solidFill>
                  <a:srgbClr val="D1D5DB"/>
                </a:solidFill>
                <a:latin typeface="Calibri" pitchFamily="34" charset="0"/>
                <a:ea typeface="Calibri" pitchFamily="34" charset="-122"/>
                <a:cs typeface="Calibri" pitchFamily="34" charset="-120"/>
              </a:rPr>
              <a:t>A safe space to express thoughts &amp; feelings freely</a:t>
            </a:r>
            <a:endParaRPr lang="en-US" sz="1100" dirty="0"/>
          </a:p>
        </p:txBody>
      </p:sp>
      <p:sp>
        <p:nvSpPr>
          <p:cNvPr id="17" name="Shape 15"/>
          <p:cNvSpPr/>
          <p:nvPr/>
        </p:nvSpPr>
        <p:spPr>
          <a:xfrm>
            <a:off x="6217920" y="2331720"/>
            <a:ext cx="2743200" cy="2514600"/>
          </a:xfrm>
          <a:prstGeom prst="roundRect">
            <a:avLst>
              <a:gd name="adj" fmla="val 6545"/>
            </a:avLst>
          </a:prstGeom>
          <a:solidFill>
            <a:srgbClr val="1A1A2E"/>
          </a:solidFill>
          <a:ln w="12700">
            <a:solidFill>
              <a:srgbClr val="3D1A5C"/>
            </a:solidFill>
            <a:prstDash val="solid"/>
          </a:ln>
          <a:effectLst>
            <a:outerShdw sx="100000" sy="100000" kx="0" ky="0" algn="bl" rotWithShape="0" blurRad="101600" dist="38100" dir="2700000">
              <a:srgbClr val="000000">
                <a:alpha val="18000"/>
              </a:srgbClr>
            </a:outerShdw>
          </a:effectLst>
        </p:spPr>
      </p:sp>
      <p:sp>
        <p:nvSpPr>
          <p:cNvPr id="18" name="Text 16"/>
          <p:cNvSpPr/>
          <p:nvPr/>
        </p:nvSpPr>
        <p:spPr>
          <a:xfrm>
            <a:off x="6217920" y="2468880"/>
            <a:ext cx="27432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9" name="Text 17"/>
          <p:cNvSpPr/>
          <p:nvPr/>
        </p:nvSpPr>
        <p:spPr>
          <a:xfrm>
            <a:off x="6309360" y="3154680"/>
            <a:ext cx="2560320" cy="45720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AI Emotional Analysis</a:t>
            </a:r>
            <a:endParaRPr lang="en-US" sz="1300" dirty="0"/>
          </a:p>
        </p:txBody>
      </p:sp>
      <p:sp>
        <p:nvSpPr>
          <p:cNvPr id="20" name="Text 18"/>
          <p:cNvSpPr/>
          <p:nvPr/>
        </p:nvSpPr>
        <p:spPr>
          <a:xfrm>
            <a:off x="6327648" y="3639312"/>
            <a:ext cx="2523744" cy="1097280"/>
          </a:xfrm>
          <a:prstGeom prst="rect">
            <a:avLst/>
          </a:prstGeom>
          <a:noFill/>
          <a:ln/>
        </p:spPr>
        <p:txBody>
          <a:bodyPr wrap="square" lIns="0" tIns="0" rIns="0" bIns="0" rtlCol="0" anchor="ctr"/>
          <a:lstStyle/>
          <a:p>
            <a:pPr algn="ctr" indent="0" marL="0">
              <a:buNone/>
            </a:pPr>
            <a:r>
              <a:rPr lang="en-US" sz="1100" dirty="0">
                <a:solidFill>
                  <a:srgbClr val="D1D5DB"/>
                </a:solidFill>
                <a:latin typeface="Calibri" pitchFamily="34" charset="0"/>
                <a:ea typeface="Calibri" pitchFamily="34" charset="-122"/>
                <a:cs typeface="Calibri" pitchFamily="34" charset="-120"/>
              </a:rPr>
              <a:t>Gemini API reads journal entries, detects patterns &amp; suggests relief</a:t>
            </a:r>
            <a:endParaRPr lang="en-US" sz="1100" dirty="0"/>
          </a:p>
        </p:txBody>
      </p:sp>
      <p:sp>
        <p:nvSpPr>
          <p:cNvPr id="21" name="Text 19"/>
          <p:cNvSpPr/>
          <p:nvPr/>
        </p:nvSpPr>
        <p:spPr>
          <a:xfrm>
            <a:off x="365760" y="4800600"/>
            <a:ext cx="8412480" cy="274320"/>
          </a:xfrm>
          <a:prstGeom prst="rect">
            <a:avLst/>
          </a:prstGeom>
          <a:noFill/>
          <a:ln/>
        </p:spPr>
        <p:txBody>
          <a:bodyPr wrap="square" lIns="0" tIns="0" rIns="0" bIns="0" rtlCol="0" anchor="ctr"/>
          <a:lstStyle/>
          <a:p>
            <a:pPr algn="ctr" indent="0" marL="0">
              <a:buNone/>
            </a:pPr>
            <a:r>
              <a:rPr lang="en-US" sz="1050" i="1" dirty="0">
                <a:solidFill>
                  <a:srgbClr val="A78BFA"/>
                </a:solidFill>
                <a:latin typeface="Calibri" pitchFamily="34" charset="0"/>
                <a:ea typeface="Calibri" pitchFamily="34" charset="-122"/>
                <a:cs typeface="Calibri" pitchFamily="34" charset="-120"/>
              </a:rPr>
              <a:t>AI-driven suggestions include: Guided Breathing  ·  Relaxation Activities  ·  Motivational Messages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320040" y="256032"/>
            <a:ext cx="749808" cy="749808"/>
          </a:xfrm>
          <a:prstGeom prst="ellipse">
            <a:avLst/>
          </a:prstGeom>
          <a:solidFill>
            <a:srgbClr val="0D9488"/>
          </a:solidFill>
          <a:ln w="12700">
            <a:solidFill>
              <a:srgbClr val="0D9488"/>
            </a:solidFill>
            <a:prstDash val="solid"/>
          </a:ln>
        </p:spPr>
      </p:sp>
      <p:sp>
        <p:nvSpPr>
          <p:cNvPr id="4" name="Text 2"/>
          <p:cNvSpPr/>
          <p:nvPr/>
        </p:nvSpPr>
        <p:spPr>
          <a:xfrm>
            <a:off x="320040" y="256032"/>
            <a:ext cx="749808"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5" name="Text 3"/>
          <p:cNvSpPr/>
          <p:nvPr/>
        </p:nvSpPr>
        <p:spPr>
          <a:xfrm>
            <a:off x="1216152" y="274320"/>
            <a:ext cx="7589520" cy="502920"/>
          </a:xfrm>
          <a:prstGeom prst="rect">
            <a:avLst/>
          </a:prstGeom>
          <a:noFill/>
          <a:ln/>
        </p:spPr>
        <p:txBody>
          <a:bodyPr wrap="square" lIns="0" tIns="0" rIns="0" bIns="0" rtlCol="0" anchor="ctr"/>
          <a:lstStyle/>
          <a:p>
            <a:pPr indent="0" marL="0">
              <a:buNone/>
            </a:pPr>
            <a:r>
              <a:rPr lang="en-US" sz="2600" b="1" dirty="0">
                <a:solidFill>
                  <a:srgbClr val="2D1B4E"/>
                </a:solidFill>
                <a:latin typeface="Cambria" pitchFamily="34" charset="0"/>
                <a:ea typeface="Cambria" pitchFamily="34" charset="-122"/>
                <a:cs typeface="Cambria" pitchFamily="34" charset="-120"/>
              </a:rPr>
              <a:t>Navigating Health Misinformation</a:t>
            </a:r>
            <a:endParaRPr lang="en-US" sz="2600" dirty="0"/>
          </a:p>
        </p:txBody>
      </p:sp>
      <p:sp>
        <p:nvSpPr>
          <p:cNvPr id="6" name="Text 4"/>
          <p:cNvSpPr/>
          <p:nvPr/>
        </p:nvSpPr>
        <p:spPr>
          <a:xfrm>
            <a:off x="1216152" y="804672"/>
            <a:ext cx="7589520" cy="41148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Asha hears about PCOS from a friend and realizes she knows very little about her own health. Online information is unreliable and not localized.</a:t>
            </a:r>
            <a:endParaRPr lang="en-US" sz="1200" dirty="0"/>
          </a:p>
        </p:txBody>
      </p:sp>
      <p:sp>
        <p:nvSpPr>
          <p:cNvPr id="7" name="Shape 5"/>
          <p:cNvSpPr/>
          <p:nvPr/>
        </p:nvSpPr>
        <p:spPr>
          <a:xfrm>
            <a:off x="320040" y="1371600"/>
            <a:ext cx="2468880" cy="3474720"/>
          </a:xfrm>
          <a:prstGeom prst="roundRect">
            <a:avLst>
              <a:gd name="adj" fmla="val 5556"/>
            </a:avLst>
          </a:prstGeom>
          <a:solidFill>
            <a:srgbClr val="FEF3C7"/>
          </a:solidFill>
          <a:ln w="12700">
            <a:solidFill>
              <a:srgbClr val="FDE68A"/>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20040" y="1417320"/>
            <a:ext cx="2468880" cy="914400"/>
          </a:xfrm>
          <a:prstGeom prst="rect">
            <a:avLst/>
          </a:prstGeom>
          <a:noFill/>
          <a:ln/>
        </p:spPr>
        <p:txBody>
          <a:bodyPr wrap="square" lIns="0" tIns="0" rIns="0" bIns="0" rtlCol="0" anchor="ctr"/>
          <a:lstStyle/>
          <a:p>
            <a:pPr algn="ctr" indent="0" marL="0">
              <a:buNone/>
            </a:pPr>
            <a:r>
              <a:rPr lang="en-US" sz="1500" b="1" dirty="0">
                <a:solidFill>
                  <a:srgbClr val="92400E"/>
                </a:solidFill>
                <a:latin typeface="Calibri" pitchFamily="34" charset="0"/>
                <a:ea typeface="Calibri" pitchFamily="34" charset="-122"/>
                <a:cs typeface="Calibri" pitchFamily="34" charset="-120"/>
              </a:rPr>
              <a:t>⚠️</a:t>
            </a:r>
            <a:endParaRPr lang="en-US" sz="1500" dirty="0"/>
          </a:p>
          <a:p>
            <a:pPr algn="ctr" indent="0" marL="0">
              <a:buNone/>
            </a:pPr>
            <a:r>
              <a:rPr lang="en-US" sz="1500" b="1" dirty="0">
                <a:solidFill>
                  <a:srgbClr val="92400E"/>
                </a:solidFill>
                <a:latin typeface="Calibri" pitchFamily="34" charset="0"/>
                <a:ea typeface="Calibri" pitchFamily="34" charset="-122"/>
                <a:cs typeface="Calibri" pitchFamily="34" charset="-120"/>
              </a:rPr>
              <a:t>The Problem</a:t>
            </a:r>
            <a:endParaRPr lang="en-US" sz="1500" dirty="0"/>
          </a:p>
        </p:txBody>
      </p:sp>
      <p:sp>
        <p:nvSpPr>
          <p:cNvPr id="9" name="Text 7"/>
          <p:cNvSpPr/>
          <p:nvPr/>
        </p:nvSpPr>
        <p:spPr>
          <a:xfrm>
            <a:off x="411480" y="2423160"/>
            <a:ext cx="2286000" cy="438912"/>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  Reliable health info hard to find</a:t>
            </a:r>
            <a:endParaRPr lang="en-US" sz="1100" dirty="0"/>
          </a:p>
        </p:txBody>
      </p:sp>
      <p:sp>
        <p:nvSpPr>
          <p:cNvPr id="10" name="Text 8"/>
          <p:cNvSpPr/>
          <p:nvPr/>
        </p:nvSpPr>
        <p:spPr>
          <a:xfrm>
            <a:off x="411480" y="2935224"/>
            <a:ext cx="2286000" cy="438912"/>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  Online sources often contradict</a:t>
            </a:r>
            <a:endParaRPr lang="en-US" sz="1100" dirty="0"/>
          </a:p>
        </p:txBody>
      </p:sp>
      <p:sp>
        <p:nvSpPr>
          <p:cNvPr id="11" name="Text 9"/>
          <p:cNvSpPr/>
          <p:nvPr/>
        </p:nvSpPr>
        <p:spPr>
          <a:xfrm>
            <a:off x="411480" y="3447288"/>
            <a:ext cx="2286000" cy="438912"/>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  No localized / Nepal-context info</a:t>
            </a:r>
            <a:endParaRPr lang="en-US" sz="1100" dirty="0"/>
          </a:p>
        </p:txBody>
      </p:sp>
      <p:sp>
        <p:nvSpPr>
          <p:cNvPr id="12" name="Text 10"/>
          <p:cNvSpPr/>
          <p:nvPr/>
        </p:nvSpPr>
        <p:spPr>
          <a:xfrm>
            <a:off x="411480" y="3959352"/>
            <a:ext cx="2286000" cy="438912"/>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  No preventive guidance provided</a:t>
            </a:r>
            <a:endParaRPr lang="en-US" sz="1100" dirty="0"/>
          </a:p>
        </p:txBody>
      </p:sp>
      <p:sp>
        <p:nvSpPr>
          <p:cNvPr id="13" name="Shape 11"/>
          <p:cNvSpPr/>
          <p:nvPr/>
        </p:nvSpPr>
        <p:spPr>
          <a:xfrm>
            <a:off x="3017520" y="137160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14" name="Text 12"/>
          <p:cNvSpPr/>
          <p:nvPr/>
        </p:nvSpPr>
        <p:spPr>
          <a:xfrm>
            <a:off x="3017520" y="146304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3090672" y="193852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PCOS</a:t>
            </a:r>
            <a:endParaRPr lang="en-US" sz="1100" dirty="0"/>
          </a:p>
        </p:txBody>
      </p:sp>
      <p:sp>
        <p:nvSpPr>
          <p:cNvPr id="16" name="Text 14"/>
          <p:cNvSpPr/>
          <p:nvPr/>
        </p:nvSpPr>
        <p:spPr>
          <a:xfrm>
            <a:off x="3090672" y="226771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Polycystic Ovary Syndrome — causes, symptoms, management</a:t>
            </a:r>
            <a:endParaRPr lang="en-US" sz="900" dirty="0"/>
          </a:p>
        </p:txBody>
      </p:sp>
      <p:sp>
        <p:nvSpPr>
          <p:cNvPr id="17" name="Shape 15"/>
          <p:cNvSpPr/>
          <p:nvPr/>
        </p:nvSpPr>
        <p:spPr>
          <a:xfrm>
            <a:off x="5029200" y="137160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18" name="Text 16"/>
          <p:cNvSpPr/>
          <p:nvPr/>
        </p:nvSpPr>
        <p:spPr>
          <a:xfrm>
            <a:off x="5029200" y="146304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5102352" y="193852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Ovarian Cysts</a:t>
            </a:r>
            <a:endParaRPr lang="en-US" sz="1100" dirty="0"/>
          </a:p>
        </p:txBody>
      </p:sp>
      <p:sp>
        <p:nvSpPr>
          <p:cNvPr id="20" name="Text 18"/>
          <p:cNvSpPr/>
          <p:nvPr/>
        </p:nvSpPr>
        <p:spPr>
          <a:xfrm>
            <a:off x="5102352" y="226771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Types, diagnosis, and when to see a doctor</a:t>
            </a:r>
            <a:endParaRPr lang="en-US" sz="900" dirty="0"/>
          </a:p>
        </p:txBody>
      </p:sp>
      <p:sp>
        <p:nvSpPr>
          <p:cNvPr id="21" name="Shape 19"/>
          <p:cNvSpPr/>
          <p:nvPr/>
        </p:nvSpPr>
        <p:spPr>
          <a:xfrm>
            <a:off x="7040880" y="137160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22" name="Text 20"/>
          <p:cNvSpPr/>
          <p:nvPr/>
        </p:nvSpPr>
        <p:spPr>
          <a:xfrm>
            <a:off x="7040880" y="146304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7114032" y="193852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Breast Cancer</a:t>
            </a:r>
            <a:endParaRPr lang="en-US" sz="1100" dirty="0"/>
          </a:p>
        </p:txBody>
      </p:sp>
      <p:sp>
        <p:nvSpPr>
          <p:cNvPr id="24" name="Text 22"/>
          <p:cNvSpPr/>
          <p:nvPr/>
        </p:nvSpPr>
        <p:spPr>
          <a:xfrm>
            <a:off x="7114032" y="226771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Early signs, self-examination, screening guidelines</a:t>
            </a:r>
            <a:endParaRPr lang="en-US" sz="900" dirty="0"/>
          </a:p>
        </p:txBody>
      </p:sp>
      <p:sp>
        <p:nvSpPr>
          <p:cNvPr id="25" name="Shape 23"/>
          <p:cNvSpPr/>
          <p:nvPr/>
        </p:nvSpPr>
        <p:spPr>
          <a:xfrm>
            <a:off x="3017520" y="310896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26" name="Text 24"/>
          <p:cNvSpPr/>
          <p:nvPr/>
        </p:nvSpPr>
        <p:spPr>
          <a:xfrm>
            <a:off x="3017520" y="320040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3090672" y="367588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Cervical Cancer</a:t>
            </a:r>
            <a:endParaRPr lang="en-US" sz="1100" dirty="0"/>
          </a:p>
        </p:txBody>
      </p:sp>
      <p:sp>
        <p:nvSpPr>
          <p:cNvPr id="28" name="Text 26"/>
          <p:cNvSpPr/>
          <p:nvPr/>
        </p:nvSpPr>
        <p:spPr>
          <a:xfrm>
            <a:off x="3090672" y="400507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HPV, Pap smear, prevention strategies</a:t>
            </a:r>
            <a:endParaRPr lang="en-US" sz="900" dirty="0"/>
          </a:p>
        </p:txBody>
      </p:sp>
      <p:sp>
        <p:nvSpPr>
          <p:cNvPr id="29" name="Shape 27"/>
          <p:cNvSpPr/>
          <p:nvPr/>
        </p:nvSpPr>
        <p:spPr>
          <a:xfrm>
            <a:off x="5029200" y="310896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30" name="Text 28"/>
          <p:cNvSpPr/>
          <p:nvPr/>
        </p:nvSpPr>
        <p:spPr>
          <a:xfrm>
            <a:off x="5029200" y="320040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5102352" y="367588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Menstrual Disorders</a:t>
            </a:r>
            <a:endParaRPr lang="en-US" sz="1100" dirty="0"/>
          </a:p>
        </p:txBody>
      </p:sp>
      <p:sp>
        <p:nvSpPr>
          <p:cNvPr id="32" name="Text 30"/>
          <p:cNvSpPr/>
          <p:nvPr/>
        </p:nvSpPr>
        <p:spPr>
          <a:xfrm>
            <a:off x="5102352" y="400507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Dysmenorrhea, PMDD, amenorrhea explained</a:t>
            </a:r>
            <a:endParaRPr lang="en-US" sz="900" dirty="0"/>
          </a:p>
        </p:txBody>
      </p:sp>
      <p:sp>
        <p:nvSpPr>
          <p:cNvPr id="33" name="Shape 31"/>
          <p:cNvSpPr/>
          <p:nvPr/>
        </p:nvSpPr>
        <p:spPr>
          <a:xfrm>
            <a:off x="7040880" y="3108960"/>
            <a:ext cx="1874520" cy="1572768"/>
          </a:xfrm>
          <a:prstGeom prst="roundRect">
            <a:avLst>
              <a:gd name="adj" fmla="val 8140"/>
            </a:avLst>
          </a:prstGeom>
          <a:solidFill>
            <a:srgbClr val="FFFFFF"/>
          </a:solidFill>
          <a:ln w="12700">
            <a:solidFill>
              <a:srgbClr val="CCFBF1"/>
            </a:solidFill>
            <a:prstDash val="solid"/>
          </a:ln>
          <a:effectLst>
            <a:outerShdw sx="100000" sy="100000" kx="0" ky="0" algn="bl" rotWithShape="0" blurRad="63500" dist="25400" dir="2700000">
              <a:srgbClr val="000000">
                <a:alpha val="10000"/>
              </a:srgbClr>
            </a:outerShdw>
          </a:effectLst>
        </p:spPr>
      </p:sp>
      <p:sp>
        <p:nvSpPr>
          <p:cNvPr id="34" name="Text 32"/>
          <p:cNvSpPr/>
          <p:nvPr/>
        </p:nvSpPr>
        <p:spPr>
          <a:xfrm>
            <a:off x="7040880" y="3200400"/>
            <a:ext cx="18745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5" name="Text 33"/>
          <p:cNvSpPr/>
          <p:nvPr/>
        </p:nvSpPr>
        <p:spPr>
          <a:xfrm>
            <a:off x="7114032" y="3675888"/>
            <a:ext cx="1737360" cy="32004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Daily Health Tips</a:t>
            </a:r>
            <a:endParaRPr lang="en-US" sz="1100" dirty="0"/>
          </a:p>
        </p:txBody>
      </p:sp>
      <p:sp>
        <p:nvSpPr>
          <p:cNvPr id="36" name="Text 34"/>
          <p:cNvSpPr/>
          <p:nvPr/>
        </p:nvSpPr>
        <p:spPr>
          <a:xfrm>
            <a:off x="7114032" y="4005072"/>
            <a:ext cx="1737360" cy="6583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Verified, actionable tips for everyday wellness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C2185B">
              <a:alpha val="12000"/>
            </a:srgbClr>
          </a:solidFill>
          <a:ln w="12700">
            <a:solidFill>
              <a:srgbClr val="C2185B">
                <a:alpha val="12000"/>
              </a:srgbClr>
            </a:solidFill>
            <a:prstDash val="solid"/>
          </a:ln>
        </p:spPr>
      </p:sp>
      <p:sp>
        <p:nvSpPr>
          <p:cNvPr id="3" name="Shape 1"/>
          <p:cNvSpPr/>
          <p:nvPr/>
        </p:nvSpPr>
        <p:spPr>
          <a:xfrm>
            <a:off x="320040" y="256032"/>
            <a:ext cx="749808" cy="749808"/>
          </a:xfrm>
          <a:prstGeom prst="ellipse">
            <a:avLst/>
          </a:prstGeom>
          <a:solidFill>
            <a:srgbClr val="C2185B"/>
          </a:solidFill>
          <a:ln w="12700">
            <a:solidFill>
              <a:srgbClr val="C2185B"/>
            </a:solidFill>
            <a:prstDash val="solid"/>
          </a:ln>
        </p:spPr>
      </p:sp>
      <p:sp>
        <p:nvSpPr>
          <p:cNvPr id="4" name="Text 2"/>
          <p:cNvSpPr/>
          <p:nvPr/>
        </p:nvSpPr>
        <p:spPr>
          <a:xfrm>
            <a:off x="320040" y="256032"/>
            <a:ext cx="749808"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5" name="Text 3"/>
          <p:cNvSpPr/>
          <p:nvPr/>
        </p:nvSpPr>
        <p:spPr>
          <a:xfrm>
            <a:off x="1216152" y="274320"/>
            <a:ext cx="758952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Personal Safety on the Streets</a:t>
            </a:r>
            <a:endParaRPr lang="en-US" sz="2600" dirty="0"/>
          </a:p>
        </p:txBody>
      </p:sp>
      <p:sp>
        <p:nvSpPr>
          <p:cNvPr id="6" name="Text 4"/>
          <p:cNvSpPr/>
          <p:nvPr/>
        </p:nvSpPr>
        <p:spPr>
          <a:xfrm>
            <a:off x="1216152" y="804672"/>
            <a:ext cx="7589520" cy="365760"/>
          </a:xfrm>
          <a:prstGeom prst="rect">
            <a:avLst/>
          </a:prstGeom>
          <a:noFill/>
          <a:ln/>
        </p:spPr>
        <p:txBody>
          <a:bodyPr wrap="square" lIns="0" tIns="0" rIns="0" bIns="0" rtlCol="0" anchor="ctr"/>
          <a:lstStyle/>
          <a:p>
            <a:pPr indent="0" marL="0">
              <a:buNone/>
            </a:pPr>
            <a:r>
              <a:rPr lang="en-US" sz="1300" i="1" dirty="0">
                <a:solidFill>
                  <a:srgbClr val="FCA5A5"/>
                </a:solidFill>
                <a:latin typeface="Calibri" pitchFamily="34" charset="0"/>
                <a:ea typeface="Calibri" pitchFamily="34" charset="-122"/>
                <a:cs typeface="Calibri" pitchFamily="34" charset="-120"/>
              </a:rPr>
              <a:t>One evening, Asha is returning home and finds herself in an unsafe, isolated situation. Every second counts.</a:t>
            </a:r>
            <a:endParaRPr lang="en-US" sz="1300" dirty="0"/>
          </a:p>
        </p:txBody>
      </p:sp>
      <p:sp>
        <p:nvSpPr>
          <p:cNvPr id="7" name="Shape 5"/>
          <p:cNvSpPr/>
          <p:nvPr/>
        </p:nvSpPr>
        <p:spPr>
          <a:xfrm>
            <a:off x="2926080" y="1371600"/>
            <a:ext cx="3291840" cy="1554480"/>
          </a:xfrm>
          <a:prstGeom prst="roundRect">
            <a:avLst>
              <a:gd name="adj" fmla="val 11765"/>
            </a:avLst>
          </a:prstGeom>
          <a:solidFill>
            <a:srgbClr val="C2185B">
              <a:alpha val="85000"/>
            </a:srgbClr>
          </a:solidFill>
          <a:ln w="12700">
            <a:solidFill>
              <a:srgbClr val="F8BBD9"/>
            </a:solidFill>
            <a:prstDash val="solid"/>
          </a:ln>
          <a:effectLst>
            <a:outerShdw sx="100000" sy="100000" kx="0" ky="0" algn="bl" rotWithShape="0" blurRad="254000" dist="50800" dir="2700000">
              <a:srgbClr val="C2185B">
                <a:alpha val="50000"/>
              </a:srgbClr>
            </a:outerShdw>
          </a:effectLst>
        </p:spPr>
      </p:sp>
      <p:sp>
        <p:nvSpPr>
          <p:cNvPr id="8" name="Text 6"/>
          <p:cNvSpPr/>
          <p:nvPr/>
        </p:nvSpPr>
        <p:spPr>
          <a:xfrm>
            <a:off x="2926080" y="1417320"/>
            <a:ext cx="329184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  SOS</a:t>
            </a:r>
            <a:endParaRPr lang="en-US" sz="2800" dirty="0"/>
          </a:p>
        </p:txBody>
      </p:sp>
      <p:sp>
        <p:nvSpPr>
          <p:cNvPr id="9" name="Text 7"/>
          <p:cNvSpPr/>
          <p:nvPr/>
        </p:nvSpPr>
        <p:spPr>
          <a:xfrm>
            <a:off x="3017520" y="2103120"/>
            <a:ext cx="3108960" cy="685800"/>
          </a:xfrm>
          <a:prstGeom prst="rect">
            <a:avLst/>
          </a:prstGeom>
          <a:noFill/>
          <a:ln/>
        </p:spPr>
        <p:txBody>
          <a:bodyPr wrap="square" lIns="0" tIns="0" rIns="0" bIns="0" rtlCol="0" anchor="ctr"/>
          <a:lstStyle/>
          <a:p>
            <a:pPr algn="ctr" indent="0" marL="0">
              <a:buNone/>
            </a:pPr>
            <a:r>
              <a:rPr lang="en-US" sz="1100" dirty="0">
                <a:solidFill>
                  <a:srgbClr val="FDE8E8"/>
                </a:solidFill>
                <a:latin typeface="Calibri" pitchFamily="34" charset="0"/>
                <a:ea typeface="Calibri" pitchFamily="34" charset="-122"/>
                <a:cs typeface="Calibri" pitchFamily="34" charset="-120"/>
              </a:rPr>
              <a:t>Asha speaks a voice command.</a:t>
            </a:r>
            <a:endParaRPr lang="en-US" sz="1100" dirty="0"/>
          </a:p>
          <a:p>
            <a:pPr algn="ctr" indent="0" marL="0">
              <a:buNone/>
            </a:pPr>
            <a:r>
              <a:rPr lang="en-US" sz="1100" dirty="0">
                <a:solidFill>
                  <a:srgbClr val="FDE8E8"/>
                </a:solidFill>
                <a:latin typeface="Calibri" pitchFamily="34" charset="0"/>
                <a:ea typeface="Calibri" pitchFamily="34" charset="-122"/>
                <a:cs typeface="Calibri" pitchFamily="34" charset="-120"/>
              </a:rPr>
              <a:t>Emergency mode activates instantly.</a:t>
            </a:r>
            <a:endParaRPr lang="en-US" sz="1100" dirty="0"/>
          </a:p>
        </p:txBody>
      </p:sp>
      <p:sp>
        <p:nvSpPr>
          <p:cNvPr id="10" name="Shape 8"/>
          <p:cNvSpPr/>
          <p:nvPr/>
        </p:nvSpPr>
        <p:spPr>
          <a:xfrm>
            <a:off x="365760" y="3108960"/>
            <a:ext cx="1965960" cy="1783080"/>
          </a:xfrm>
          <a:prstGeom prst="roundRect">
            <a:avLst>
              <a:gd name="adj" fmla="val 7692"/>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11" name="Shape 9"/>
          <p:cNvSpPr/>
          <p:nvPr/>
        </p:nvSpPr>
        <p:spPr>
          <a:xfrm>
            <a:off x="1005840" y="3218688"/>
            <a:ext cx="640080" cy="640080"/>
          </a:xfrm>
          <a:prstGeom prst="ellipse">
            <a:avLst/>
          </a:prstGeom>
          <a:solidFill>
            <a:srgbClr val="C2185B"/>
          </a:solidFill>
          <a:ln w="12700">
            <a:solidFill>
              <a:srgbClr val="C2185B"/>
            </a:solidFill>
            <a:prstDash val="solid"/>
          </a:ln>
        </p:spPr>
      </p:sp>
      <p:sp>
        <p:nvSpPr>
          <p:cNvPr id="12" name="Text 10"/>
          <p:cNvSpPr/>
          <p:nvPr/>
        </p:nvSpPr>
        <p:spPr>
          <a:xfrm>
            <a:off x="1005840" y="3218688"/>
            <a:ext cx="6400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365760" y="3858768"/>
            <a:ext cx="196596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457200" y="4315968"/>
            <a:ext cx="1783080" cy="530352"/>
          </a:xfrm>
          <a:prstGeom prst="rect">
            <a:avLst/>
          </a:prstGeom>
          <a:noFill/>
          <a:ln/>
        </p:spPr>
        <p:txBody>
          <a:bodyPr wrap="square" lIns="0" tIns="0" rIns="0" bIns="0" rtlCol="0" anchor="ctr"/>
          <a:lstStyle/>
          <a:p>
            <a:pPr algn="ctr" indent="0" marL="0">
              <a:buNone/>
            </a:pPr>
            <a:r>
              <a:rPr lang="en-US" sz="1000" dirty="0">
                <a:solidFill>
                  <a:srgbClr val="E9D5FF"/>
                </a:solidFill>
                <a:latin typeface="Calibri" pitchFamily="34" charset="0"/>
                <a:ea typeface="Calibri" pitchFamily="34" charset="-122"/>
                <a:cs typeface="Calibri" pitchFamily="34" charset="-120"/>
              </a:rPr>
              <a:t>Voice phrase detected</a:t>
            </a:r>
            <a:endParaRPr lang="en-US" sz="1000" dirty="0"/>
          </a:p>
          <a:p>
            <a:pPr algn="ctr" indent="0" marL="0">
              <a:buNone/>
            </a:pPr>
            <a:r>
              <a:rPr lang="en-US" sz="1000" dirty="0">
                <a:solidFill>
                  <a:srgbClr val="E9D5FF"/>
                </a:solidFill>
                <a:latin typeface="Calibri" pitchFamily="34" charset="0"/>
                <a:ea typeface="Calibri" pitchFamily="34" charset="-122"/>
                <a:cs typeface="Calibri" pitchFamily="34" charset="-120"/>
              </a:rPr>
              <a:t>OR volume button ×3</a:t>
            </a:r>
            <a:endParaRPr lang="en-US" sz="1000" dirty="0"/>
          </a:p>
        </p:txBody>
      </p:sp>
      <p:sp>
        <p:nvSpPr>
          <p:cNvPr id="15" name="Shape 13"/>
          <p:cNvSpPr/>
          <p:nvPr/>
        </p:nvSpPr>
        <p:spPr>
          <a:xfrm>
            <a:off x="2514600" y="3108960"/>
            <a:ext cx="1965960" cy="1783080"/>
          </a:xfrm>
          <a:prstGeom prst="roundRect">
            <a:avLst>
              <a:gd name="adj" fmla="val 7692"/>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16" name="Shape 14"/>
          <p:cNvSpPr/>
          <p:nvPr/>
        </p:nvSpPr>
        <p:spPr>
          <a:xfrm>
            <a:off x="3154680" y="3218688"/>
            <a:ext cx="640080" cy="640080"/>
          </a:xfrm>
          <a:prstGeom prst="ellipse">
            <a:avLst/>
          </a:prstGeom>
          <a:solidFill>
            <a:srgbClr val="C2185B"/>
          </a:solidFill>
          <a:ln w="12700">
            <a:solidFill>
              <a:srgbClr val="C2185B"/>
            </a:solidFill>
            <a:prstDash val="solid"/>
          </a:ln>
        </p:spPr>
      </p:sp>
      <p:sp>
        <p:nvSpPr>
          <p:cNvPr id="17" name="Text 15"/>
          <p:cNvSpPr/>
          <p:nvPr/>
        </p:nvSpPr>
        <p:spPr>
          <a:xfrm>
            <a:off x="3154680" y="3218688"/>
            <a:ext cx="6400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6"/>
          <p:cNvSpPr/>
          <p:nvPr/>
        </p:nvSpPr>
        <p:spPr>
          <a:xfrm>
            <a:off x="2514600" y="3858768"/>
            <a:ext cx="196596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2606040" y="4315968"/>
            <a:ext cx="1783080" cy="530352"/>
          </a:xfrm>
          <a:prstGeom prst="rect">
            <a:avLst/>
          </a:prstGeom>
          <a:noFill/>
          <a:ln/>
        </p:spPr>
        <p:txBody>
          <a:bodyPr wrap="square" lIns="0" tIns="0" rIns="0" bIns="0" rtlCol="0" anchor="ctr"/>
          <a:lstStyle/>
          <a:p>
            <a:pPr algn="ctr" indent="0" marL="0">
              <a:buNone/>
            </a:pPr>
            <a:r>
              <a:rPr lang="en-US" sz="1000" dirty="0">
                <a:solidFill>
                  <a:srgbClr val="E9D5FF"/>
                </a:solidFill>
                <a:latin typeface="Calibri" pitchFamily="34" charset="0"/>
                <a:ea typeface="Calibri" pitchFamily="34" charset="-122"/>
                <a:cs typeface="Calibri" pitchFamily="34" charset="-120"/>
              </a:rPr>
              <a:t>Real-time GPS location</a:t>
            </a:r>
            <a:endParaRPr lang="en-US" sz="1000" dirty="0"/>
          </a:p>
          <a:p>
            <a:pPr algn="ctr" indent="0" marL="0">
              <a:buNone/>
            </a:pPr>
            <a:r>
              <a:rPr lang="en-US" sz="1000" dirty="0">
                <a:solidFill>
                  <a:srgbClr val="E9D5FF"/>
                </a:solidFill>
                <a:latin typeface="Calibri" pitchFamily="34" charset="0"/>
                <a:ea typeface="Calibri" pitchFamily="34" charset="-122"/>
                <a:cs typeface="Calibri" pitchFamily="34" charset="-120"/>
              </a:rPr>
              <a:t>captured immediately</a:t>
            </a:r>
            <a:endParaRPr lang="en-US" sz="1000" dirty="0"/>
          </a:p>
        </p:txBody>
      </p:sp>
      <p:sp>
        <p:nvSpPr>
          <p:cNvPr id="20" name="Shape 18"/>
          <p:cNvSpPr/>
          <p:nvPr/>
        </p:nvSpPr>
        <p:spPr>
          <a:xfrm>
            <a:off x="4663440" y="3108960"/>
            <a:ext cx="1965960" cy="1783080"/>
          </a:xfrm>
          <a:prstGeom prst="roundRect">
            <a:avLst>
              <a:gd name="adj" fmla="val 7692"/>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21" name="Shape 19"/>
          <p:cNvSpPr/>
          <p:nvPr/>
        </p:nvSpPr>
        <p:spPr>
          <a:xfrm>
            <a:off x="5303520" y="3218688"/>
            <a:ext cx="640080" cy="640080"/>
          </a:xfrm>
          <a:prstGeom prst="ellipse">
            <a:avLst/>
          </a:prstGeom>
          <a:solidFill>
            <a:srgbClr val="C2185B"/>
          </a:solidFill>
          <a:ln w="12700">
            <a:solidFill>
              <a:srgbClr val="C2185B"/>
            </a:solidFill>
            <a:prstDash val="solid"/>
          </a:ln>
        </p:spPr>
      </p:sp>
      <p:sp>
        <p:nvSpPr>
          <p:cNvPr id="22" name="Text 20"/>
          <p:cNvSpPr/>
          <p:nvPr/>
        </p:nvSpPr>
        <p:spPr>
          <a:xfrm>
            <a:off x="5303520" y="3218688"/>
            <a:ext cx="6400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3" name="Text 21"/>
          <p:cNvSpPr/>
          <p:nvPr/>
        </p:nvSpPr>
        <p:spPr>
          <a:xfrm>
            <a:off x="4663440" y="3858768"/>
            <a:ext cx="196596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4754880" y="4315968"/>
            <a:ext cx="1783080" cy="530352"/>
          </a:xfrm>
          <a:prstGeom prst="rect">
            <a:avLst/>
          </a:prstGeom>
          <a:noFill/>
          <a:ln/>
        </p:spPr>
        <p:txBody>
          <a:bodyPr wrap="square" lIns="0" tIns="0" rIns="0" bIns="0" rtlCol="0" anchor="ctr"/>
          <a:lstStyle/>
          <a:p>
            <a:pPr algn="ctr" indent="0" marL="0">
              <a:buNone/>
            </a:pPr>
            <a:r>
              <a:rPr lang="en-US" sz="1000" dirty="0">
                <a:solidFill>
                  <a:srgbClr val="E9D5FF"/>
                </a:solidFill>
                <a:latin typeface="Calibri" pitchFamily="34" charset="0"/>
                <a:ea typeface="Calibri" pitchFamily="34" charset="-122"/>
                <a:cs typeface="Calibri" pitchFamily="34" charset="-120"/>
              </a:rPr>
              <a:t>Email alert sent</a:t>
            </a:r>
            <a:endParaRPr lang="en-US" sz="1000" dirty="0"/>
          </a:p>
          <a:p>
            <a:pPr algn="ctr" indent="0" marL="0">
              <a:buNone/>
            </a:pPr>
            <a:r>
              <a:rPr lang="en-US" sz="1000" dirty="0">
                <a:solidFill>
                  <a:srgbClr val="E9D5FF"/>
                </a:solidFill>
                <a:latin typeface="Calibri" pitchFamily="34" charset="0"/>
                <a:ea typeface="Calibri" pitchFamily="34" charset="-122"/>
                <a:cs typeface="Calibri" pitchFamily="34" charset="-120"/>
              </a:rPr>
              <a:t>(online — with map link)</a:t>
            </a:r>
            <a:endParaRPr lang="en-US" sz="1000" dirty="0"/>
          </a:p>
        </p:txBody>
      </p:sp>
      <p:sp>
        <p:nvSpPr>
          <p:cNvPr id="25" name="Shape 23"/>
          <p:cNvSpPr/>
          <p:nvPr/>
        </p:nvSpPr>
        <p:spPr>
          <a:xfrm>
            <a:off x="6812280" y="3108960"/>
            <a:ext cx="1965960" cy="1783080"/>
          </a:xfrm>
          <a:prstGeom prst="roundRect">
            <a:avLst>
              <a:gd name="adj" fmla="val 7692"/>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26" name="Shape 24"/>
          <p:cNvSpPr/>
          <p:nvPr/>
        </p:nvSpPr>
        <p:spPr>
          <a:xfrm>
            <a:off x="7452360" y="3218688"/>
            <a:ext cx="640080" cy="640080"/>
          </a:xfrm>
          <a:prstGeom prst="ellipse">
            <a:avLst/>
          </a:prstGeom>
          <a:solidFill>
            <a:srgbClr val="C2185B"/>
          </a:solidFill>
          <a:ln w="12700">
            <a:solidFill>
              <a:srgbClr val="C2185B"/>
            </a:solidFill>
            <a:prstDash val="solid"/>
          </a:ln>
        </p:spPr>
      </p:sp>
      <p:sp>
        <p:nvSpPr>
          <p:cNvPr id="27" name="Text 25"/>
          <p:cNvSpPr/>
          <p:nvPr/>
        </p:nvSpPr>
        <p:spPr>
          <a:xfrm>
            <a:off x="7452360" y="3218688"/>
            <a:ext cx="6400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6812280" y="3858768"/>
            <a:ext cx="196596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9" name="Text 27"/>
          <p:cNvSpPr/>
          <p:nvPr/>
        </p:nvSpPr>
        <p:spPr>
          <a:xfrm>
            <a:off x="6903720" y="4315968"/>
            <a:ext cx="1783080" cy="530352"/>
          </a:xfrm>
          <a:prstGeom prst="rect">
            <a:avLst/>
          </a:prstGeom>
          <a:noFill/>
          <a:ln/>
        </p:spPr>
        <p:txBody>
          <a:bodyPr wrap="square" lIns="0" tIns="0" rIns="0" bIns="0" rtlCol="0" anchor="ctr"/>
          <a:lstStyle/>
          <a:p>
            <a:pPr algn="ctr" indent="0" marL="0">
              <a:buNone/>
            </a:pPr>
            <a:r>
              <a:rPr lang="en-US" sz="1000" dirty="0">
                <a:solidFill>
                  <a:srgbClr val="E9D5FF"/>
                </a:solidFill>
                <a:latin typeface="Calibri" pitchFamily="34" charset="0"/>
                <a:ea typeface="Calibri" pitchFamily="34" charset="-122"/>
                <a:cs typeface="Calibri" pitchFamily="34" charset="-120"/>
              </a:rPr>
              <a:t>SMS alert sent</a:t>
            </a:r>
            <a:endParaRPr lang="en-US" sz="1000" dirty="0"/>
          </a:p>
          <a:p>
            <a:pPr algn="ctr" indent="0" marL="0">
              <a:buNone/>
            </a:pPr>
            <a:r>
              <a:rPr lang="en-US" sz="1000" dirty="0">
                <a:solidFill>
                  <a:srgbClr val="E9D5FF"/>
                </a:solidFill>
                <a:latin typeface="Calibri" pitchFamily="34" charset="0"/>
                <a:ea typeface="Calibri" pitchFamily="34" charset="-122"/>
                <a:cs typeface="Calibri" pitchFamily="34" charset="-120"/>
              </a:rPr>
              <a:t>(offline fallback)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1B4E"/>
          </a:solidFill>
          <a:ln w="12700">
            <a:solidFill>
              <a:srgbClr val="2D1B4E"/>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System Architecture</a:t>
            </a:r>
            <a:endParaRPr lang="en-US" sz="2200" dirty="0"/>
          </a:p>
        </p:txBody>
      </p:sp>
      <p:sp>
        <p:nvSpPr>
          <p:cNvPr id="4" name="Text 2"/>
          <p:cNvSpPr/>
          <p:nvPr/>
        </p:nvSpPr>
        <p:spPr>
          <a:xfrm>
            <a:off x="4572000" y="0"/>
            <a:ext cx="4389120" cy="777240"/>
          </a:xfrm>
          <a:prstGeom prst="rect">
            <a:avLst/>
          </a:prstGeom>
          <a:noFill/>
          <a:ln/>
        </p:spPr>
        <p:txBody>
          <a:bodyPr wrap="square" lIns="0" tIns="0" rIns="0" bIns="0" rtlCol="0" anchor="ctr"/>
          <a:lstStyle/>
          <a:p>
            <a:pPr algn="r" indent="0" marL="0">
              <a:buNone/>
            </a:pPr>
            <a:r>
              <a:rPr lang="en-US" sz="1100" i="1" dirty="0">
                <a:solidFill>
                  <a:srgbClr val="D8B4FE"/>
                </a:solidFill>
                <a:latin typeface="Calibri" pitchFamily="34" charset="0"/>
                <a:ea typeface="Calibri" pitchFamily="34" charset="-122"/>
                <a:cs typeface="Calibri" pitchFamily="34" charset="-120"/>
              </a:rPr>
              <a:t>A layered client-server design connecting mobile, web, AI &amp; database</a:t>
            </a:r>
            <a:endParaRPr lang="en-US" sz="1100" dirty="0"/>
          </a:p>
        </p:txBody>
      </p:sp>
      <p:sp>
        <p:nvSpPr>
          <p:cNvPr id="5" name="Shape 3"/>
          <p:cNvSpPr/>
          <p:nvPr/>
        </p:nvSpPr>
        <p:spPr>
          <a:xfrm>
            <a:off x="320040" y="960120"/>
            <a:ext cx="1965960" cy="2834640"/>
          </a:xfrm>
          <a:prstGeom prst="roundRect">
            <a:avLst>
              <a:gd name="adj" fmla="val 6977"/>
            </a:avLst>
          </a:prstGeom>
          <a:solidFill>
            <a:srgbClr val="7B2D8B">
              <a:alpha val="12000"/>
            </a:srgbClr>
          </a:solidFill>
          <a:ln w="12700">
            <a:solidFill>
              <a:srgbClr val="7B2D8B"/>
            </a:solidFill>
            <a:prstDash val="solid"/>
          </a:ln>
          <a:effectLst>
            <a:outerShdw sx="100000" sy="100000" kx="0" ky="0" algn="bl" rotWithShape="0" blurRad="101600" dist="38100" dir="2700000">
              <a:srgbClr val="000000">
                <a:alpha val="18000"/>
              </a:srgbClr>
            </a:outerShdw>
          </a:effectLst>
        </p:spPr>
      </p:sp>
      <p:sp>
        <p:nvSpPr>
          <p:cNvPr id="6" name="Shape 4"/>
          <p:cNvSpPr/>
          <p:nvPr/>
        </p:nvSpPr>
        <p:spPr>
          <a:xfrm>
            <a:off x="868680" y="1078992"/>
            <a:ext cx="868680" cy="868680"/>
          </a:xfrm>
          <a:prstGeom prst="ellipse">
            <a:avLst/>
          </a:prstGeom>
          <a:solidFill>
            <a:srgbClr val="7B2D8B"/>
          </a:solidFill>
          <a:ln w="12700">
            <a:solidFill>
              <a:srgbClr val="7B2D8B"/>
            </a:solidFill>
            <a:prstDash val="solid"/>
          </a:ln>
        </p:spPr>
      </p:sp>
      <p:sp>
        <p:nvSpPr>
          <p:cNvPr id="7" name="Text 5"/>
          <p:cNvSpPr/>
          <p:nvPr/>
        </p:nvSpPr>
        <p:spPr>
          <a:xfrm>
            <a:off x="868680" y="1078992"/>
            <a:ext cx="868680" cy="8686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393192" y="2029968"/>
            <a:ext cx="1819656" cy="411480"/>
          </a:xfrm>
          <a:prstGeom prst="rect">
            <a:avLst/>
          </a:prstGeom>
          <a:noFill/>
          <a:ln/>
        </p:spPr>
        <p:txBody>
          <a:bodyPr wrap="square" lIns="0" tIns="0" rIns="0" bIns="0" rtlCol="0" anchor="ctr"/>
          <a:lstStyle/>
          <a:p>
            <a:pPr algn="ctr" indent="0" marL="0">
              <a:buNone/>
            </a:pPr>
            <a:r>
              <a:rPr lang="en-US" sz="1300" b="1" spc="100" kern="0" dirty="0">
                <a:solidFill>
                  <a:srgbClr val="7B2D8B"/>
                </a:solidFill>
                <a:latin typeface="Cambria" pitchFamily="34" charset="0"/>
                <a:ea typeface="Cambria" pitchFamily="34" charset="-122"/>
                <a:cs typeface="Cambria" pitchFamily="34" charset="-120"/>
              </a:rPr>
              <a:t>FRONTEND</a:t>
            </a:r>
            <a:endParaRPr lang="en-US" sz="1300" dirty="0"/>
          </a:p>
        </p:txBody>
      </p:sp>
      <p:sp>
        <p:nvSpPr>
          <p:cNvPr id="9" name="Text 7"/>
          <p:cNvSpPr/>
          <p:nvPr/>
        </p:nvSpPr>
        <p:spPr>
          <a:xfrm>
            <a:off x="411480" y="2487168"/>
            <a:ext cx="1783080" cy="100584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React Native (Mobile)</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React.js (Web)</a:t>
            </a:r>
            <a:endParaRPr lang="en-US" sz="1050" dirty="0"/>
          </a:p>
        </p:txBody>
      </p:sp>
      <p:sp>
        <p:nvSpPr>
          <p:cNvPr id="10" name="Shape 8"/>
          <p:cNvSpPr/>
          <p:nvPr/>
        </p:nvSpPr>
        <p:spPr>
          <a:xfrm>
            <a:off x="2331720" y="2194560"/>
            <a:ext cx="109728" cy="228600"/>
          </a:xfrm>
          <a:prstGeom prst="rect">
            <a:avLst/>
          </a:prstGeom>
          <a:solidFill>
            <a:srgbClr val="6B7280"/>
          </a:solidFill>
          <a:ln w="12700">
            <a:solidFill>
              <a:srgbClr val="6B7280"/>
            </a:solidFill>
            <a:prstDash val="solid"/>
          </a:ln>
        </p:spPr>
      </p:sp>
      <p:sp>
        <p:nvSpPr>
          <p:cNvPr id="11" name="Text 9"/>
          <p:cNvSpPr/>
          <p:nvPr/>
        </p:nvSpPr>
        <p:spPr>
          <a:xfrm>
            <a:off x="2304288" y="2084832"/>
            <a:ext cx="164592" cy="36576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12" name="Shape 10"/>
          <p:cNvSpPr/>
          <p:nvPr/>
        </p:nvSpPr>
        <p:spPr>
          <a:xfrm>
            <a:off x="2468880" y="960120"/>
            <a:ext cx="1965960" cy="2834640"/>
          </a:xfrm>
          <a:prstGeom prst="roundRect">
            <a:avLst>
              <a:gd name="adj" fmla="val 6977"/>
            </a:avLst>
          </a:prstGeom>
          <a:solidFill>
            <a:srgbClr val="C2185B">
              <a:alpha val="12000"/>
            </a:srgbClr>
          </a:solidFill>
          <a:ln w="12700">
            <a:solidFill>
              <a:srgbClr val="C2185B"/>
            </a:solidFill>
            <a:prstDash val="solid"/>
          </a:ln>
          <a:effectLst>
            <a:outerShdw sx="100000" sy="100000" kx="0" ky="0" algn="bl" rotWithShape="0" blurRad="101600" dist="38100" dir="2700000">
              <a:srgbClr val="000000">
                <a:alpha val="18000"/>
              </a:srgbClr>
            </a:outerShdw>
          </a:effectLst>
        </p:spPr>
      </p:sp>
      <p:sp>
        <p:nvSpPr>
          <p:cNvPr id="13" name="Shape 11"/>
          <p:cNvSpPr/>
          <p:nvPr/>
        </p:nvSpPr>
        <p:spPr>
          <a:xfrm>
            <a:off x="3017520" y="1078992"/>
            <a:ext cx="868680" cy="868680"/>
          </a:xfrm>
          <a:prstGeom prst="ellipse">
            <a:avLst/>
          </a:prstGeom>
          <a:solidFill>
            <a:srgbClr val="C2185B"/>
          </a:solidFill>
          <a:ln w="12700">
            <a:solidFill>
              <a:srgbClr val="C2185B"/>
            </a:solidFill>
            <a:prstDash val="solid"/>
          </a:ln>
        </p:spPr>
      </p:sp>
      <p:sp>
        <p:nvSpPr>
          <p:cNvPr id="14" name="Text 12"/>
          <p:cNvSpPr/>
          <p:nvPr/>
        </p:nvSpPr>
        <p:spPr>
          <a:xfrm>
            <a:off x="3017520" y="1078992"/>
            <a:ext cx="868680" cy="8686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2542032" y="2029968"/>
            <a:ext cx="1819656" cy="411480"/>
          </a:xfrm>
          <a:prstGeom prst="rect">
            <a:avLst/>
          </a:prstGeom>
          <a:noFill/>
          <a:ln/>
        </p:spPr>
        <p:txBody>
          <a:bodyPr wrap="square" lIns="0" tIns="0" rIns="0" bIns="0" rtlCol="0" anchor="ctr"/>
          <a:lstStyle/>
          <a:p>
            <a:pPr algn="ctr" indent="0" marL="0">
              <a:buNone/>
            </a:pPr>
            <a:r>
              <a:rPr lang="en-US" sz="1300" b="1" spc="100" kern="0" dirty="0">
                <a:solidFill>
                  <a:srgbClr val="C2185B"/>
                </a:solidFill>
                <a:latin typeface="Cambria" pitchFamily="34" charset="0"/>
                <a:ea typeface="Cambria" pitchFamily="34" charset="-122"/>
                <a:cs typeface="Cambria" pitchFamily="34" charset="-120"/>
              </a:rPr>
              <a:t>BACKEND</a:t>
            </a:r>
            <a:endParaRPr lang="en-US" sz="1300" dirty="0"/>
          </a:p>
        </p:txBody>
      </p:sp>
      <p:sp>
        <p:nvSpPr>
          <p:cNvPr id="16" name="Text 14"/>
          <p:cNvSpPr/>
          <p:nvPr/>
        </p:nvSpPr>
        <p:spPr>
          <a:xfrm>
            <a:off x="2560320" y="2487168"/>
            <a:ext cx="1783080" cy="100584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FastAPI</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Business Logic &amp; APIs</a:t>
            </a:r>
            <a:endParaRPr lang="en-US" sz="1050" dirty="0"/>
          </a:p>
        </p:txBody>
      </p:sp>
      <p:sp>
        <p:nvSpPr>
          <p:cNvPr id="17" name="Shape 15"/>
          <p:cNvSpPr/>
          <p:nvPr/>
        </p:nvSpPr>
        <p:spPr>
          <a:xfrm>
            <a:off x="4480560" y="2194560"/>
            <a:ext cx="109728" cy="228600"/>
          </a:xfrm>
          <a:prstGeom prst="rect">
            <a:avLst/>
          </a:prstGeom>
          <a:solidFill>
            <a:srgbClr val="6B7280"/>
          </a:solidFill>
          <a:ln w="12700">
            <a:solidFill>
              <a:srgbClr val="6B7280"/>
            </a:solidFill>
            <a:prstDash val="solid"/>
          </a:ln>
        </p:spPr>
      </p:sp>
      <p:sp>
        <p:nvSpPr>
          <p:cNvPr id="18" name="Text 16"/>
          <p:cNvSpPr/>
          <p:nvPr/>
        </p:nvSpPr>
        <p:spPr>
          <a:xfrm>
            <a:off x="4453128" y="2084832"/>
            <a:ext cx="164592" cy="36576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19" name="Shape 17"/>
          <p:cNvSpPr/>
          <p:nvPr/>
        </p:nvSpPr>
        <p:spPr>
          <a:xfrm>
            <a:off x="4617720" y="960120"/>
            <a:ext cx="1965960" cy="2834640"/>
          </a:xfrm>
          <a:prstGeom prst="roundRect">
            <a:avLst>
              <a:gd name="adj" fmla="val 6977"/>
            </a:avLst>
          </a:prstGeom>
          <a:solidFill>
            <a:srgbClr val="0D9488">
              <a:alpha val="12000"/>
            </a:srgbClr>
          </a:solidFill>
          <a:ln w="12700">
            <a:solidFill>
              <a:srgbClr val="0D9488"/>
            </a:solidFill>
            <a:prstDash val="solid"/>
          </a:ln>
          <a:effectLst>
            <a:outerShdw sx="100000" sy="100000" kx="0" ky="0" algn="bl" rotWithShape="0" blurRad="101600" dist="38100" dir="2700000">
              <a:srgbClr val="000000">
                <a:alpha val="18000"/>
              </a:srgbClr>
            </a:outerShdw>
          </a:effectLst>
        </p:spPr>
      </p:sp>
      <p:sp>
        <p:nvSpPr>
          <p:cNvPr id="20" name="Shape 18"/>
          <p:cNvSpPr/>
          <p:nvPr/>
        </p:nvSpPr>
        <p:spPr>
          <a:xfrm>
            <a:off x="5166360" y="1078992"/>
            <a:ext cx="868680" cy="868680"/>
          </a:xfrm>
          <a:prstGeom prst="ellipse">
            <a:avLst/>
          </a:prstGeom>
          <a:solidFill>
            <a:srgbClr val="0D9488"/>
          </a:solidFill>
          <a:ln w="12700">
            <a:solidFill>
              <a:srgbClr val="0D9488"/>
            </a:solidFill>
            <a:prstDash val="solid"/>
          </a:ln>
        </p:spPr>
      </p:sp>
      <p:sp>
        <p:nvSpPr>
          <p:cNvPr id="21" name="Text 19"/>
          <p:cNvSpPr/>
          <p:nvPr/>
        </p:nvSpPr>
        <p:spPr>
          <a:xfrm>
            <a:off x="5166360" y="1078992"/>
            <a:ext cx="868680" cy="8686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690872" y="2029968"/>
            <a:ext cx="1819656" cy="411480"/>
          </a:xfrm>
          <a:prstGeom prst="rect">
            <a:avLst/>
          </a:prstGeom>
          <a:noFill/>
          <a:ln/>
        </p:spPr>
        <p:txBody>
          <a:bodyPr wrap="square" lIns="0" tIns="0" rIns="0" bIns="0" rtlCol="0" anchor="ctr"/>
          <a:lstStyle/>
          <a:p>
            <a:pPr algn="ctr" indent="0" marL="0">
              <a:buNone/>
            </a:pPr>
            <a:r>
              <a:rPr lang="en-US" sz="1300" b="1" spc="100" kern="0" dirty="0">
                <a:solidFill>
                  <a:srgbClr val="0D9488"/>
                </a:solidFill>
                <a:latin typeface="Cambria" pitchFamily="34" charset="0"/>
                <a:ea typeface="Cambria" pitchFamily="34" charset="-122"/>
                <a:cs typeface="Cambria" pitchFamily="34" charset="-120"/>
              </a:rPr>
              <a:t>DATABASE</a:t>
            </a:r>
            <a:endParaRPr lang="en-US" sz="1300" dirty="0"/>
          </a:p>
        </p:txBody>
      </p:sp>
      <p:sp>
        <p:nvSpPr>
          <p:cNvPr id="23" name="Text 21"/>
          <p:cNvSpPr/>
          <p:nvPr/>
        </p:nvSpPr>
        <p:spPr>
          <a:xfrm>
            <a:off x="4709160" y="2487168"/>
            <a:ext cx="1783080" cy="100584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PostgreSQL / SQLite</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Secure Data Storage</a:t>
            </a:r>
            <a:endParaRPr lang="en-US" sz="1050" dirty="0"/>
          </a:p>
        </p:txBody>
      </p:sp>
      <p:sp>
        <p:nvSpPr>
          <p:cNvPr id="24" name="Shape 22"/>
          <p:cNvSpPr/>
          <p:nvPr/>
        </p:nvSpPr>
        <p:spPr>
          <a:xfrm>
            <a:off x="6629400" y="2194560"/>
            <a:ext cx="109728" cy="228600"/>
          </a:xfrm>
          <a:prstGeom prst="rect">
            <a:avLst/>
          </a:prstGeom>
          <a:solidFill>
            <a:srgbClr val="6B7280"/>
          </a:solidFill>
          <a:ln w="12700">
            <a:solidFill>
              <a:srgbClr val="6B7280"/>
            </a:solidFill>
            <a:prstDash val="solid"/>
          </a:ln>
        </p:spPr>
      </p:sp>
      <p:sp>
        <p:nvSpPr>
          <p:cNvPr id="25" name="Text 23"/>
          <p:cNvSpPr/>
          <p:nvPr/>
        </p:nvSpPr>
        <p:spPr>
          <a:xfrm>
            <a:off x="6601968" y="2084832"/>
            <a:ext cx="164592" cy="365760"/>
          </a:xfrm>
          <a:prstGeom prst="rect">
            <a:avLst/>
          </a:prstGeom>
          <a:noFill/>
          <a:ln/>
        </p:spPr>
        <p:txBody>
          <a:bodyPr wrap="square" lIns="0" tIns="0" rIns="0" bIns="0" rtlCol="0" anchor="ctr"/>
          <a:lstStyle/>
          <a:p>
            <a:pPr algn="ctr" indent="0" marL="0">
              <a:buNone/>
            </a:pPr>
            <a:r>
              <a:rPr lang="en-US" sz="1600" dirty="0">
                <a:solidFill>
                  <a:srgbClr val="6B7280"/>
                </a:solidFill>
              </a:rPr>
              <a:t>→</a:t>
            </a:r>
            <a:endParaRPr lang="en-US" sz="1600" dirty="0"/>
          </a:p>
        </p:txBody>
      </p:sp>
      <p:sp>
        <p:nvSpPr>
          <p:cNvPr id="26" name="Shape 24"/>
          <p:cNvSpPr/>
          <p:nvPr/>
        </p:nvSpPr>
        <p:spPr>
          <a:xfrm>
            <a:off x="6766560" y="960120"/>
            <a:ext cx="1965960" cy="2834640"/>
          </a:xfrm>
          <a:prstGeom prst="roundRect">
            <a:avLst>
              <a:gd name="adj" fmla="val 6977"/>
            </a:avLst>
          </a:prstGeom>
          <a:solidFill>
            <a:srgbClr val="F59E0B">
              <a:alpha val="12000"/>
            </a:srgbClr>
          </a:solidFill>
          <a:ln w="12700">
            <a:solidFill>
              <a:srgbClr val="F59E0B"/>
            </a:solidFill>
            <a:prstDash val="solid"/>
          </a:ln>
          <a:effectLst>
            <a:outerShdw sx="100000" sy="100000" kx="0" ky="0" algn="bl" rotWithShape="0" blurRad="101600" dist="38100" dir="2700000">
              <a:srgbClr val="000000">
                <a:alpha val="18000"/>
              </a:srgbClr>
            </a:outerShdw>
          </a:effectLst>
        </p:spPr>
      </p:sp>
      <p:sp>
        <p:nvSpPr>
          <p:cNvPr id="27" name="Shape 25"/>
          <p:cNvSpPr/>
          <p:nvPr/>
        </p:nvSpPr>
        <p:spPr>
          <a:xfrm>
            <a:off x="7315200" y="1078992"/>
            <a:ext cx="868680" cy="868680"/>
          </a:xfrm>
          <a:prstGeom prst="ellipse">
            <a:avLst/>
          </a:prstGeom>
          <a:solidFill>
            <a:srgbClr val="F59E0B"/>
          </a:solidFill>
          <a:ln w="12700">
            <a:solidFill>
              <a:srgbClr val="F59E0B"/>
            </a:solidFill>
            <a:prstDash val="solid"/>
          </a:ln>
        </p:spPr>
      </p:sp>
      <p:sp>
        <p:nvSpPr>
          <p:cNvPr id="28" name="Text 26"/>
          <p:cNvSpPr/>
          <p:nvPr/>
        </p:nvSpPr>
        <p:spPr>
          <a:xfrm>
            <a:off x="7315200" y="1078992"/>
            <a:ext cx="868680" cy="8686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6839712" y="2029968"/>
            <a:ext cx="1819656" cy="411480"/>
          </a:xfrm>
          <a:prstGeom prst="rect">
            <a:avLst/>
          </a:prstGeom>
          <a:noFill/>
          <a:ln/>
        </p:spPr>
        <p:txBody>
          <a:bodyPr wrap="square" lIns="0" tIns="0" rIns="0" bIns="0" rtlCol="0" anchor="ctr"/>
          <a:lstStyle/>
          <a:p>
            <a:pPr algn="ctr" indent="0" marL="0">
              <a:buNone/>
            </a:pPr>
            <a:r>
              <a:rPr lang="en-US" sz="1300" b="1" spc="100" kern="0" dirty="0">
                <a:solidFill>
                  <a:srgbClr val="F59E0B"/>
                </a:solidFill>
                <a:latin typeface="Cambria" pitchFamily="34" charset="0"/>
                <a:ea typeface="Cambria" pitchFamily="34" charset="-122"/>
                <a:cs typeface="Cambria" pitchFamily="34" charset="-120"/>
              </a:rPr>
              <a:t>AI LAYER</a:t>
            </a:r>
            <a:endParaRPr lang="en-US" sz="1300" dirty="0"/>
          </a:p>
        </p:txBody>
      </p:sp>
      <p:sp>
        <p:nvSpPr>
          <p:cNvPr id="30" name="Text 28"/>
          <p:cNvSpPr/>
          <p:nvPr/>
        </p:nvSpPr>
        <p:spPr>
          <a:xfrm>
            <a:off x="6858000" y="2487168"/>
            <a:ext cx="1783080" cy="100584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Google Gemini API</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Emotional Analysis</a:t>
            </a:r>
            <a:endParaRPr lang="en-US" sz="1050" dirty="0"/>
          </a:p>
        </p:txBody>
      </p:sp>
      <p:sp>
        <p:nvSpPr>
          <p:cNvPr id="31" name="Shape 29"/>
          <p:cNvSpPr/>
          <p:nvPr/>
        </p:nvSpPr>
        <p:spPr>
          <a:xfrm>
            <a:off x="320040" y="3931920"/>
            <a:ext cx="4206240" cy="713232"/>
          </a:xfrm>
          <a:prstGeom prst="roundRect">
            <a:avLst>
              <a:gd name="adj" fmla="val 15385"/>
            </a:avLst>
          </a:prstGeom>
          <a:solidFill>
            <a:srgbClr val="EDE7F6"/>
          </a:solidFill>
          <a:ln w="12700">
            <a:solidFill>
              <a:srgbClr val="C4B5FD"/>
            </a:solidFill>
            <a:prstDash val="solid"/>
          </a:ln>
        </p:spPr>
      </p:sp>
      <p:sp>
        <p:nvSpPr>
          <p:cNvPr id="32" name="Text 30"/>
          <p:cNvSpPr/>
          <p:nvPr/>
        </p:nvSpPr>
        <p:spPr>
          <a:xfrm>
            <a:off x="457200" y="3931920"/>
            <a:ext cx="4023360" cy="713232"/>
          </a:xfrm>
          <a:prstGeom prst="rect">
            <a:avLst/>
          </a:prstGeom>
          <a:noFill/>
          <a:ln/>
        </p:spPr>
        <p:txBody>
          <a:bodyPr wrap="square" lIns="0" tIns="0" rIns="0" bIns="0" rtlCol="0" anchor="ctr"/>
          <a:lstStyle/>
          <a:p>
            <a:pPr indent="0" marL="0">
              <a:buNone/>
            </a:pPr>
            <a:r>
              <a:rPr lang="en-US" sz="1050" dirty="0">
                <a:solidFill>
                  <a:srgbClr val="2D1B4E"/>
                </a:solidFill>
                <a:latin typeface="Calibri" pitchFamily="34" charset="0"/>
                <a:ea typeface="Calibri" pitchFamily="34" charset="-122"/>
                <a:cs typeface="Calibri" pitchFamily="34" charset="-120"/>
              </a:rPr>
              <a:t>🔒  Security: JWT Authentication · Secure API · PostgreSQL encryption · HTTPS communication</a:t>
            </a:r>
            <a:endParaRPr lang="en-US" sz="1050" dirty="0"/>
          </a:p>
        </p:txBody>
      </p:sp>
      <p:sp>
        <p:nvSpPr>
          <p:cNvPr id="33" name="Shape 31"/>
          <p:cNvSpPr/>
          <p:nvPr/>
        </p:nvSpPr>
        <p:spPr>
          <a:xfrm>
            <a:off x="4754880" y="3931920"/>
            <a:ext cx="4069080" cy="713232"/>
          </a:xfrm>
          <a:prstGeom prst="roundRect">
            <a:avLst>
              <a:gd name="adj" fmla="val 15385"/>
            </a:avLst>
          </a:prstGeom>
          <a:solidFill>
            <a:srgbClr val="E0F2FE"/>
          </a:solidFill>
          <a:ln w="12700">
            <a:solidFill>
              <a:srgbClr val="BAE6FD"/>
            </a:solidFill>
            <a:prstDash val="solid"/>
          </a:ln>
        </p:spPr>
      </p:sp>
      <p:sp>
        <p:nvSpPr>
          <p:cNvPr id="34" name="Text 32"/>
          <p:cNvSpPr/>
          <p:nvPr/>
        </p:nvSpPr>
        <p:spPr>
          <a:xfrm>
            <a:off x="4892040" y="3931920"/>
            <a:ext cx="3886200" cy="713232"/>
          </a:xfrm>
          <a:prstGeom prst="rect">
            <a:avLst/>
          </a:prstGeom>
          <a:noFill/>
          <a:ln/>
        </p:spPr>
        <p:txBody>
          <a:bodyPr wrap="square" lIns="0" tIns="0" rIns="0" bIns="0" rtlCol="0" anchor="ctr"/>
          <a:lstStyle/>
          <a:p>
            <a:pPr indent="0" marL="0">
              <a:buNone/>
            </a:pPr>
            <a:r>
              <a:rPr lang="en-US" sz="1050" dirty="0">
                <a:solidFill>
                  <a:srgbClr val="0C4A6E"/>
                </a:solidFill>
                <a:latin typeface="Calibri" pitchFamily="34" charset="0"/>
                <a:ea typeface="Calibri" pitchFamily="34" charset="-122"/>
                <a:cs typeface="Calibri" pitchFamily="34" charset="-120"/>
              </a:rPr>
              <a:t>🛠  Stack: React Native · React.js · FastAPI · PostgreSQL · Google Gemini API · Google Maps API · JWT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7F6"/>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D1B4E"/>
                </a:solidFill>
                <a:latin typeface="Cambria" pitchFamily="34" charset="0"/>
                <a:ea typeface="Cambria" pitchFamily="34" charset="-122"/>
                <a:cs typeface="Cambria" pitchFamily="34" charset="-120"/>
              </a:rPr>
              <a:t>Functional Modules</a:t>
            </a:r>
            <a:endParaRPr lang="en-US" sz="2800" dirty="0"/>
          </a:p>
        </p:txBody>
      </p:sp>
      <p:sp>
        <p:nvSpPr>
          <p:cNvPr id="3" name="Text 1"/>
          <p:cNvSpPr/>
          <p:nvPr/>
        </p:nvSpPr>
        <p:spPr>
          <a:xfrm>
            <a:off x="365760" y="731520"/>
            <a:ext cx="8412480" cy="320040"/>
          </a:xfrm>
          <a:prstGeom prst="rect">
            <a:avLst/>
          </a:prstGeom>
          <a:noFill/>
          <a:ln/>
        </p:spPr>
        <p:txBody>
          <a:bodyPr wrap="square" lIns="0" tIns="0" rIns="0" bIns="0" rtlCol="0" anchor="ctr"/>
          <a:lstStyle/>
          <a:p>
            <a:pPr indent="0" marL="0">
              <a:buNone/>
            </a:pPr>
            <a:r>
              <a:rPr lang="en-US" sz="1200" i="1" dirty="0">
                <a:solidFill>
                  <a:srgbClr val="7B2D8B"/>
                </a:solidFill>
                <a:latin typeface="Calibri" pitchFamily="34" charset="0"/>
                <a:ea typeface="Calibri" pitchFamily="34" charset="-122"/>
                <a:cs typeface="Calibri" pitchFamily="34" charset="-120"/>
              </a:rPr>
              <a:t>Six integrated modules working as one unified platform</a:t>
            </a:r>
            <a:endParaRPr lang="en-US" sz="1200" dirty="0"/>
          </a:p>
        </p:txBody>
      </p:sp>
      <p:sp>
        <p:nvSpPr>
          <p:cNvPr id="4" name="Shape 2"/>
          <p:cNvSpPr/>
          <p:nvPr/>
        </p:nvSpPr>
        <p:spPr>
          <a:xfrm>
            <a:off x="365760" y="1188720"/>
            <a:ext cx="2697480" cy="1691640"/>
          </a:xfrm>
          <a:prstGeom prst="roundRect">
            <a:avLst>
              <a:gd name="adj" fmla="val 9730"/>
            </a:avLst>
          </a:prstGeom>
          <a:solidFill>
            <a:srgbClr val="FFFFFF"/>
          </a:solidFill>
          <a:ln w="12700">
            <a:solidFill>
              <a:srgbClr val="6B728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65760" y="12984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457200" y="1847088"/>
            <a:ext cx="2514600" cy="36576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Authentication</a:t>
            </a:r>
            <a:endParaRPr lang="en-US" sz="1200" dirty="0"/>
          </a:p>
        </p:txBody>
      </p:sp>
      <p:sp>
        <p:nvSpPr>
          <p:cNvPr id="7" name="Text 5"/>
          <p:cNvSpPr/>
          <p:nvPr/>
        </p:nvSpPr>
        <p:spPr>
          <a:xfrm>
            <a:off x="475488" y="221284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JWT registration, login &amp; account security</a:t>
            </a:r>
            <a:endParaRPr lang="en-US" sz="1000" dirty="0"/>
          </a:p>
        </p:txBody>
      </p:sp>
      <p:sp>
        <p:nvSpPr>
          <p:cNvPr id="8" name="Shape 6"/>
          <p:cNvSpPr/>
          <p:nvPr/>
        </p:nvSpPr>
        <p:spPr>
          <a:xfrm>
            <a:off x="3291840" y="1188720"/>
            <a:ext cx="2697480" cy="1691640"/>
          </a:xfrm>
          <a:prstGeom prst="roundRect">
            <a:avLst>
              <a:gd name="adj" fmla="val 9730"/>
            </a:avLst>
          </a:prstGeom>
          <a:solidFill>
            <a:srgbClr val="FFFFFF"/>
          </a:solidFill>
          <a:ln w="12700">
            <a:solidFill>
              <a:srgbClr val="C2185B"/>
            </a:solidFill>
            <a:prstDash val="solid"/>
          </a:ln>
          <a:effectLst>
            <a:outerShdw sx="100000" sy="100000" kx="0" ky="0" algn="bl" rotWithShape="0" blurRad="76200" dist="25400" dir="2700000">
              <a:srgbClr val="000000">
                <a:alpha val="12000"/>
              </a:srgbClr>
            </a:outerShdw>
          </a:effectLst>
        </p:spPr>
      </p:sp>
      <p:sp>
        <p:nvSpPr>
          <p:cNvPr id="9" name="Text 7"/>
          <p:cNvSpPr/>
          <p:nvPr/>
        </p:nvSpPr>
        <p:spPr>
          <a:xfrm>
            <a:off x="3291840" y="12984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3383280" y="1847088"/>
            <a:ext cx="2514600" cy="365760"/>
          </a:xfrm>
          <a:prstGeom prst="rect">
            <a:avLst/>
          </a:prstGeom>
          <a:noFill/>
          <a:ln/>
        </p:spPr>
        <p:txBody>
          <a:bodyPr wrap="square" lIns="0" tIns="0" rIns="0" bIns="0" rtlCol="0" anchor="ctr"/>
          <a:lstStyle/>
          <a:p>
            <a:pPr algn="ctr" indent="0" marL="0">
              <a:buNone/>
            </a:pPr>
            <a:r>
              <a:rPr lang="en-US" sz="1200" b="1" dirty="0">
                <a:solidFill>
                  <a:srgbClr val="C2185B"/>
                </a:solidFill>
                <a:latin typeface="Calibri" pitchFamily="34" charset="0"/>
                <a:ea typeface="Calibri" pitchFamily="34" charset="-122"/>
                <a:cs typeface="Calibri" pitchFamily="34" charset="-120"/>
              </a:rPr>
              <a:t>Menstrual Tracking</a:t>
            </a:r>
            <a:endParaRPr lang="en-US" sz="1200" dirty="0"/>
          </a:p>
        </p:txBody>
      </p:sp>
      <p:sp>
        <p:nvSpPr>
          <p:cNvPr id="11" name="Text 9"/>
          <p:cNvSpPr/>
          <p:nvPr/>
        </p:nvSpPr>
        <p:spPr>
          <a:xfrm>
            <a:off x="3401568" y="221284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Cycle logging, period prediction, symptom visualization</a:t>
            </a:r>
            <a:endParaRPr lang="en-US" sz="1000" dirty="0"/>
          </a:p>
        </p:txBody>
      </p:sp>
      <p:sp>
        <p:nvSpPr>
          <p:cNvPr id="12" name="Shape 10"/>
          <p:cNvSpPr/>
          <p:nvPr/>
        </p:nvSpPr>
        <p:spPr>
          <a:xfrm>
            <a:off x="6217920" y="1188720"/>
            <a:ext cx="2697480" cy="1691640"/>
          </a:xfrm>
          <a:prstGeom prst="roundRect">
            <a:avLst>
              <a:gd name="adj" fmla="val 9730"/>
            </a:avLst>
          </a:prstGeom>
          <a:solidFill>
            <a:srgbClr val="FFFFFF"/>
          </a:solidFill>
          <a:ln w="12700">
            <a:solidFill>
              <a:srgbClr val="7B2D8B"/>
            </a:solidFill>
            <a:prstDash val="solid"/>
          </a:ln>
          <a:effectLst>
            <a:outerShdw sx="100000" sy="100000" kx="0" ky="0" algn="bl" rotWithShape="0" blurRad="76200" dist="25400" dir="2700000">
              <a:srgbClr val="000000">
                <a:alpha val="12000"/>
              </a:srgbClr>
            </a:outerShdw>
          </a:effectLst>
        </p:spPr>
      </p:sp>
      <p:sp>
        <p:nvSpPr>
          <p:cNvPr id="13" name="Text 11"/>
          <p:cNvSpPr/>
          <p:nvPr/>
        </p:nvSpPr>
        <p:spPr>
          <a:xfrm>
            <a:off x="6217920" y="129844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6309360" y="1847088"/>
            <a:ext cx="2514600" cy="365760"/>
          </a:xfrm>
          <a:prstGeom prst="rect">
            <a:avLst/>
          </a:prstGeom>
          <a:noFill/>
          <a:ln/>
        </p:spPr>
        <p:txBody>
          <a:bodyPr wrap="square" lIns="0" tIns="0" rIns="0" bIns="0" rtlCol="0" anchor="ctr"/>
          <a:lstStyle/>
          <a:p>
            <a:pPr algn="ctr" indent="0" marL="0">
              <a:buNone/>
            </a:pPr>
            <a:r>
              <a:rPr lang="en-US" sz="1200" b="1" dirty="0">
                <a:solidFill>
                  <a:srgbClr val="7B2D8B"/>
                </a:solidFill>
                <a:latin typeface="Calibri" pitchFamily="34" charset="0"/>
                <a:ea typeface="Calibri" pitchFamily="34" charset="-122"/>
                <a:cs typeface="Calibri" pitchFamily="34" charset="-120"/>
              </a:rPr>
              <a:t>AI Emotional Monitoring</a:t>
            </a:r>
            <a:endParaRPr lang="en-US" sz="1200" dirty="0"/>
          </a:p>
        </p:txBody>
      </p:sp>
      <p:sp>
        <p:nvSpPr>
          <p:cNvPr id="15" name="Text 13"/>
          <p:cNvSpPr/>
          <p:nvPr/>
        </p:nvSpPr>
        <p:spPr>
          <a:xfrm>
            <a:off x="6327648" y="221284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Gemini API-powered mood &amp; journal analysis</a:t>
            </a:r>
            <a:endParaRPr lang="en-US" sz="1000" dirty="0"/>
          </a:p>
        </p:txBody>
      </p:sp>
      <p:sp>
        <p:nvSpPr>
          <p:cNvPr id="16" name="Shape 14"/>
          <p:cNvSpPr/>
          <p:nvPr/>
        </p:nvSpPr>
        <p:spPr>
          <a:xfrm>
            <a:off x="365760" y="3063240"/>
            <a:ext cx="2697480" cy="1691640"/>
          </a:xfrm>
          <a:prstGeom prst="roundRect">
            <a:avLst>
              <a:gd name="adj" fmla="val 9730"/>
            </a:avLst>
          </a:prstGeom>
          <a:solidFill>
            <a:srgbClr val="FFFFFF"/>
          </a:solidFill>
          <a:ln w="12700">
            <a:solidFill>
              <a:srgbClr val="DC2626"/>
            </a:solidFill>
            <a:prstDash val="solid"/>
          </a:ln>
          <a:effectLst>
            <a:outerShdw sx="100000" sy="100000" kx="0" ky="0" algn="bl" rotWithShape="0" blurRad="76200" dist="25400" dir="2700000">
              <a:srgbClr val="000000">
                <a:alpha val="12000"/>
              </a:srgbClr>
            </a:outerShdw>
          </a:effectLst>
        </p:spPr>
      </p:sp>
      <p:sp>
        <p:nvSpPr>
          <p:cNvPr id="17" name="Text 15"/>
          <p:cNvSpPr/>
          <p:nvPr/>
        </p:nvSpPr>
        <p:spPr>
          <a:xfrm>
            <a:off x="365760" y="317296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457200" y="3721608"/>
            <a:ext cx="2514600" cy="365760"/>
          </a:xfrm>
          <a:prstGeom prst="rect">
            <a:avLst/>
          </a:prstGeom>
          <a:noFill/>
          <a:ln/>
        </p:spPr>
        <p:txBody>
          <a:bodyPr wrap="square" lIns="0" tIns="0" rIns="0" bIns="0" rtlCol="0" anchor="ctr"/>
          <a:lstStyle/>
          <a:p>
            <a:pPr algn="ctr" indent="0" marL="0">
              <a:buNone/>
            </a:pPr>
            <a:r>
              <a:rPr lang="en-US" sz="1200" b="1" dirty="0">
                <a:solidFill>
                  <a:srgbClr val="DC2626"/>
                </a:solidFill>
                <a:latin typeface="Calibri" pitchFamily="34" charset="0"/>
                <a:ea typeface="Calibri" pitchFamily="34" charset="-122"/>
                <a:cs typeface="Calibri" pitchFamily="34" charset="-120"/>
              </a:rPr>
              <a:t>SOS Emergency</a:t>
            </a:r>
            <a:endParaRPr lang="en-US" sz="1200" dirty="0"/>
          </a:p>
        </p:txBody>
      </p:sp>
      <p:sp>
        <p:nvSpPr>
          <p:cNvPr id="19" name="Text 17"/>
          <p:cNvSpPr/>
          <p:nvPr/>
        </p:nvSpPr>
        <p:spPr>
          <a:xfrm>
            <a:off x="475488" y="408736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Voice-activated alerts &amp; real-time GPS sharing</a:t>
            </a:r>
            <a:endParaRPr lang="en-US" sz="1000" dirty="0"/>
          </a:p>
        </p:txBody>
      </p:sp>
      <p:sp>
        <p:nvSpPr>
          <p:cNvPr id="20" name="Shape 18"/>
          <p:cNvSpPr/>
          <p:nvPr/>
        </p:nvSpPr>
        <p:spPr>
          <a:xfrm>
            <a:off x="3291840" y="3063240"/>
            <a:ext cx="2697480" cy="1691640"/>
          </a:xfrm>
          <a:prstGeom prst="roundRect">
            <a:avLst>
              <a:gd name="adj" fmla="val 9730"/>
            </a:avLst>
          </a:prstGeom>
          <a:solidFill>
            <a:srgbClr val="FFFFFF"/>
          </a:solidFill>
          <a:ln w="12700">
            <a:solidFill>
              <a:srgbClr val="0D9488"/>
            </a:solidFill>
            <a:prstDash val="solid"/>
          </a:ln>
          <a:effectLst>
            <a:outerShdw sx="100000" sy="100000" kx="0" ky="0" algn="bl" rotWithShape="0" blurRad="76200" dist="25400" dir="2700000">
              <a:srgbClr val="000000">
                <a:alpha val="12000"/>
              </a:srgbClr>
            </a:outerShdw>
          </a:effectLst>
        </p:spPr>
      </p:sp>
      <p:sp>
        <p:nvSpPr>
          <p:cNvPr id="21" name="Text 19"/>
          <p:cNvSpPr/>
          <p:nvPr/>
        </p:nvSpPr>
        <p:spPr>
          <a:xfrm>
            <a:off x="3291840" y="317296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3383280" y="3721608"/>
            <a:ext cx="2514600" cy="36576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Awareness Module</a:t>
            </a:r>
            <a:endParaRPr lang="en-US" sz="1200" dirty="0"/>
          </a:p>
        </p:txBody>
      </p:sp>
      <p:sp>
        <p:nvSpPr>
          <p:cNvPr id="23" name="Text 21"/>
          <p:cNvSpPr/>
          <p:nvPr/>
        </p:nvSpPr>
        <p:spPr>
          <a:xfrm>
            <a:off x="3401568" y="408736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PCOS, cancer, menstrual disorder education</a:t>
            </a:r>
            <a:endParaRPr lang="en-US" sz="1000" dirty="0"/>
          </a:p>
        </p:txBody>
      </p:sp>
      <p:sp>
        <p:nvSpPr>
          <p:cNvPr id="24" name="Shape 22"/>
          <p:cNvSpPr/>
          <p:nvPr/>
        </p:nvSpPr>
        <p:spPr>
          <a:xfrm>
            <a:off x="6217920" y="3063240"/>
            <a:ext cx="2697480" cy="1691640"/>
          </a:xfrm>
          <a:prstGeom prst="roundRect">
            <a:avLst>
              <a:gd name="adj" fmla="val 9730"/>
            </a:avLst>
          </a:prstGeom>
          <a:solidFill>
            <a:srgbClr val="FFFFFF"/>
          </a:solidFill>
          <a:ln w="12700">
            <a:solidFill>
              <a:srgbClr val="F59E0B"/>
            </a:solidFill>
            <a:prstDash val="solid"/>
          </a:ln>
          <a:effectLst>
            <a:outerShdw sx="100000" sy="100000" kx="0" ky="0" algn="bl" rotWithShape="0" blurRad="76200" dist="25400" dir="2700000">
              <a:srgbClr val="000000">
                <a:alpha val="12000"/>
              </a:srgbClr>
            </a:outerShdw>
          </a:effectLst>
        </p:spPr>
      </p:sp>
      <p:sp>
        <p:nvSpPr>
          <p:cNvPr id="25" name="Text 23"/>
          <p:cNvSpPr/>
          <p:nvPr/>
        </p:nvSpPr>
        <p:spPr>
          <a:xfrm>
            <a:off x="6217920" y="3172968"/>
            <a:ext cx="269748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6309360" y="3721608"/>
            <a:ext cx="2514600" cy="365760"/>
          </a:xfrm>
          <a:prstGeom prst="rect">
            <a:avLst/>
          </a:prstGeom>
          <a:noFill/>
          <a:ln/>
        </p:spPr>
        <p:txBody>
          <a:bodyPr wrap="square" lIns="0" tIns="0" rIns="0" bIns="0"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Notifications</a:t>
            </a:r>
            <a:endParaRPr lang="en-US" sz="1200" dirty="0"/>
          </a:p>
        </p:txBody>
      </p:sp>
      <p:sp>
        <p:nvSpPr>
          <p:cNvPr id="27" name="Text 25"/>
          <p:cNvSpPr/>
          <p:nvPr/>
        </p:nvSpPr>
        <p:spPr>
          <a:xfrm>
            <a:off x="6327648" y="4087368"/>
            <a:ext cx="2478024" cy="62179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Cycle reminders &amp; daily mood input prompts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7B2D8B"/>
          </a:solidFill>
          <a:ln w="12700">
            <a:solidFill>
              <a:srgbClr val="7B2D8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Our Platform? — Competitive Comparison</a:t>
            </a:r>
            <a:endParaRPr lang="en-US" sz="2100" dirty="0"/>
          </a:p>
        </p:txBody>
      </p:sp>
      <p:sp>
        <p:nvSpPr>
          <p:cNvPr id="4" name="Shape 2"/>
          <p:cNvSpPr/>
          <p:nvPr/>
        </p:nvSpPr>
        <p:spPr>
          <a:xfrm>
            <a:off x="320040" y="960120"/>
            <a:ext cx="1828800" cy="640080"/>
          </a:xfrm>
          <a:prstGeom prst="roundRect">
            <a:avLst>
              <a:gd name="adj" fmla="val 8571"/>
            </a:avLst>
          </a:prstGeom>
          <a:solidFill>
            <a:srgbClr val="2D1B4E"/>
          </a:solidFill>
          <a:ln w="12700">
            <a:solidFill>
              <a:srgbClr val="2D1B4E"/>
            </a:solidFill>
            <a:prstDash val="solid"/>
          </a:ln>
        </p:spPr>
      </p:sp>
      <p:sp>
        <p:nvSpPr>
          <p:cNvPr id="5" name="Text 3"/>
          <p:cNvSpPr/>
          <p:nvPr/>
        </p:nvSpPr>
        <p:spPr>
          <a:xfrm>
            <a:off x="320040" y="960120"/>
            <a:ext cx="182880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p>
        </p:txBody>
      </p:sp>
      <p:sp>
        <p:nvSpPr>
          <p:cNvPr id="6" name="Shape 4"/>
          <p:cNvSpPr/>
          <p:nvPr/>
        </p:nvSpPr>
        <p:spPr>
          <a:xfrm>
            <a:off x="2221992" y="960120"/>
            <a:ext cx="1325880" cy="640080"/>
          </a:xfrm>
          <a:prstGeom prst="roundRect">
            <a:avLst>
              <a:gd name="adj" fmla="val 8571"/>
            </a:avLst>
          </a:prstGeom>
          <a:solidFill>
            <a:srgbClr val="2D1B4E"/>
          </a:solidFill>
          <a:ln w="12700">
            <a:solidFill>
              <a:srgbClr val="2D1B4E"/>
            </a:solidFill>
            <a:prstDash val="solid"/>
          </a:ln>
        </p:spPr>
      </p:sp>
      <p:sp>
        <p:nvSpPr>
          <p:cNvPr id="7" name="Text 5"/>
          <p:cNvSpPr/>
          <p:nvPr/>
        </p:nvSpPr>
        <p:spPr>
          <a:xfrm>
            <a:off x="2221992" y="960120"/>
            <a:ext cx="132588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Menstrual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Health</a:t>
            </a:r>
            <a:endParaRPr lang="en-US" sz="1000" dirty="0"/>
          </a:p>
        </p:txBody>
      </p:sp>
      <p:sp>
        <p:nvSpPr>
          <p:cNvPr id="8" name="Shape 6"/>
          <p:cNvSpPr/>
          <p:nvPr/>
        </p:nvSpPr>
        <p:spPr>
          <a:xfrm>
            <a:off x="3621024" y="960120"/>
            <a:ext cx="1325880" cy="640080"/>
          </a:xfrm>
          <a:prstGeom prst="roundRect">
            <a:avLst>
              <a:gd name="adj" fmla="val 8571"/>
            </a:avLst>
          </a:prstGeom>
          <a:solidFill>
            <a:srgbClr val="2D1B4E"/>
          </a:solidFill>
          <a:ln w="12700">
            <a:solidFill>
              <a:srgbClr val="2D1B4E"/>
            </a:solidFill>
            <a:prstDash val="solid"/>
          </a:ln>
        </p:spPr>
      </p:sp>
      <p:sp>
        <p:nvSpPr>
          <p:cNvPr id="9" name="Text 7"/>
          <p:cNvSpPr/>
          <p:nvPr/>
        </p:nvSpPr>
        <p:spPr>
          <a:xfrm>
            <a:off x="3621024" y="960120"/>
            <a:ext cx="132588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Emotional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Wellness</a:t>
            </a:r>
            <a:endParaRPr lang="en-US" sz="1000" dirty="0"/>
          </a:p>
        </p:txBody>
      </p:sp>
      <p:sp>
        <p:nvSpPr>
          <p:cNvPr id="10" name="Shape 8"/>
          <p:cNvSpPr/>
          <p:nvPr/>
        </p:nvSpPr>
        <p:spPr>
          <a:xfrm>
            <a:off x="5020056" y="960120"/>
            <a:ext cx="1280160" cy="640080"/>
          </a:xfrm>
          <a:prstGeom prst="roundRect">
            <a:avLst>
              <a:gd name="adj" fmla="val 8571"/>
            </a:avLst>
          </a:prstGeom>
          <a:solidFill>
            <a:srgbClr val="2D1B4E"/>
          </a:solidFill>
          <a:ln w="12700">
            <a:solidFill>
              <a:srgbClr val="2D1B4E"/>
            </a:solidFill>
            <a:prstDash val="solid"/>
          </a:ln>
        </p:spPr>
      </p:sp>
      <p:sp>
        <p:nvSpPr>
          <p:cNvPr id="11" name="Text 9"/>
          <p:cNvSpPr/>
          <p:nvPr/>
        </p:nvSpPr>
        <p:spPr>
          <a:xfrm>
            <a:off x="5020056" y="960120"/>
            <a:ext cx="128016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12" name="Shape 10"/>
          <p:cNvSpPr/>
          <p:nvPr/>
        </p:nvSpPr>
        <p:spPr>
          <a:xfrm>
            <a:off x="6373368" y="960120"/>
            <a:ext cx="1325880" cy="640080"/>
          </a:xfrm>
          <a:prstGeom prst="roundRect">
            <a:avLst>
              <a:gd name="adj" fmla="val 8571"/>
            </a:avLst>
          </a:prstGeom>
          <a:solidFill>
            <a:srgbClr val="2D1B4E"/>
          </a:solidFill>
          <a:ln w="12700">
            <a:solidFill>
              <a:srgbClr val="2D1B4E"/>
            </a:solidFill>
            <a:prstDash val="solid"/>
          </a:ln>
        </p:spPr>
      </p:sp>
      <p:sp>
        <p:nvSpPr>
          <p:cNvPr id="13" name="Text 11"/>
          <p:cNvSpPr/>
          <p:nvPr/>
        </p:nvSpPr>
        <p:spPr>
          <a:xfrm>
            <a:off x="6373368" y="960120"/>
            <a:ext cx="132588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Emergency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Safety</a:t>
            </a:r>
            <a:endParaRPr lang="en-US" sz="1000" dirty="0"/>
          </a:p>
        </p:txBody>
      </p:sp>
      <p:sp>
        <p:nvSpPr>
          <p:cNvPr id="14" name="Shape 12"/>
          <p:cNvSpPr/>
          <p:nvPr/>
        </p:nvSpPr>
        <p:spPr>
          <a:xfrm>
            <a:off x="7772400" y="960120"/>
            <a:ext cx="1325880" cy="640080"/>
          </a:xfrm>
          <a:prstGeom prst="roundRect">
            <a:avLst>
              <a:gd name="adj" fmla="val 8571"/>
            </a:avLst>
          </a:prstGeom>
          <a:solidFill>
            <a:srgbClr val="2D1B4E"/>
          </a:solidFill>
          <a:ln w="12700">
            <a:solidFill>
              <a:srgbClr val="2D1B4E"/>
            </a:solidFill>
            <a:prstDash val="solid"/>
          </a:ln>
        </p:spPr>
      </p:sp>
      <p:sp>
        <p:nvSpPr>
          <p:cNvPr id="15" name="Text 13"/>
          <p:cNvSpPr/>
          <p:nvPr/>
        </p:nvSpPr>
        <p:spPr>
          <a:xfrm>
            <a:off x="7772400" y="960120"/>
            <a:ext cx="1325880" cy="6400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Unified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Platform</a:t>
            </a:r>
            <a:endParaRPr lang="en-US" sz="1000" dirty="0"/>
          </a:p>
        </p:txBody>
      </p:sp>
      <p:sp>
        <p:nvSpPr>
          <p:cNvPr id="16" name="Shape 14"/>
          <p:cNvSpPr/>
          <p:nvPr/>
        </p:nvSpPr>
        <p:spPr>
          <a:xfrm>
            <a:off x="320040" y="1691640"/>
            <a:ext cx="1828800" cy="420624"/>
          </a:xfrm>
          <a:prstGeom prst="roundRect">
            <a:avLst>
              <a:gd name="adj" fmla="val 8696"/>
            </a:avLst>
          </a:prstGeom>
          <a:solidFill>
            <a:srgbClr val="F9FAFB"/>
          </a:solidFill>
          <a:ln w="12700">
            <a:solidFill>
              <a:srgbClr val="E5E7EB"/>
            </a:solidFill>
            <a:prstDash val="solid"/>
          </a:ln>
        </p:spPr>
      </p:sp>
      <p:sp>
        <p:nvSpPr>
          <p:cNvPr id="17" name="Text 15"/>
          <p:cNvSpPr/>
          <p:nvPr/>
        </p:nvSpPr>
        <p:spPr>
          <a:xfrm>
            <a:off x="320040" y="16916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Flo</a:t>
            </a:r>
            <a:endParaRPr lang="en-US" sz="1300" dirty="0"/>
          </a:p>
        </p:txBody>
      </p:sp>
      <p:sp>
        <p:nvSpPr>
          <p:cNvPr id="18" name="Shape 16"/>
          <p:cNvSpPr/>
          <p:nvPr/>
        </p:nvSpPr>
        <p:spPr>
          <a:xfrm>
            <a:off x="2221992" y="1691640"/>
            <a:ext cx="1325880" cy="420624"/>
          </a:xfrm>
          <a:prstGeom prst="roundRect">
            <a:avLst>
              <a:gd name="adj" fmla="val 8696"/>
            </a:avLst>
          </a:prstGeom>
          <a:solidFill>
            <a:srgbClr val="F9FAFB"/>
          </a:solidFill>
          <a:ln w="12700">
            <a:solidFill>
              <a:srgbClr val="E5E7EB"/>
            </a:solidFill>
            <a:prstDash val="solid"/>
          </a:ln>
        </p:spPr>
      </p:sp>
      <p:sp>
        <p:nvSpPr>
          <p:cNvPr id="19" name="Text 17"/>
          <p:cNvSpPr/>
          <p:nvPr/>
        </p:nvSpPr>
        <p:spPr>
          <a:xfrm>
            <a:off x="2221992" y="16916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3621024" y="1691640"/>
            <a:ext cx="1325880" cy="420624"/>
          </a:xfrm>
          <a:prstGeom prst="roundRect">
            <a:avLst>
              <a:gd name="adj" fmla="val 8696"/>
            </a:avLst>
          </a:prstGeom>
          <a:solidFill>
            <a:srgbClr val="F9FAFB"/>
          </a:solidFill>
          <a:ln w="12700">
            <a:solidFill>
              <a:srgbClr val="E5E7EB"/>
            </a:solidFill>
            <a:prstDash val="solid"/>
          </a:ln>
        </p:spPr>
      </p:sp>
      <p:sp>
        <p:nvSpPr>
          <p:cNvPr id="21" name="Text 19"/>
          <p:cNvSpPr/>
          <p:nvPr/>
        </p:nvSpPr>
        <p:spPr>
          <a:xfrm>
            <a:off x="3621024" y="1691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020056" y="1691640"/>
            <a:ext cx="1280160" cy="420624"/>
          </a:xfrm>
          <a:prstGeom prst="roundRect">
            <a:avLst>
              <a:gd name="adj" fmla="val 8696"/>
            </a:avLst>
          </a:prstGeom>
          <a:solidFill>
            <a:srgbClr val="F9FAFB"/>
          </a:solidFill>
          <a:ln w="12700">
            <a:solidFill>
              <a:srgbClr val="E5E7EB"/>
            </a:solidFill>
            <a:prstDash val="solid"/>
          </a:ln>
        </p:spPr>
      </p:sp>
      <p:sp>
        <p:nvSpPr>
          <p:cNvPr id="23" name="Text 21"/>
          <p:cNvSpPr/>
          <p:nvPr/>
        </p:nvSpPr>
        <p:spPr>
          <a:xfrm>
            <a:off x="5020056" y="1691640"/>
            <a:ext cx="128016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6373368" y="1691640"/>
            <a:ext cx="1325880" cy="420624"/>
          </a:xfrm>
          <a:prstGeom prst="roundRect">
            <a:avLst>
              <a:gd name="adj" fmla="val 8696"/>
            </a:avLst>
          </a:prstGeom>
          <a:solidFill>
            <a:srgbClr val="F9FAFB"/>
          </a:solidFill>
          <a:ln w="12700">
            <a:solidFill>
              <a:srgbClr val="E5E7EB"/>
            </a:solidFill>
            <a:prstDash val="solid"/>
          </a:ln>
        </p:spPr>
      </p:sp>
      <p:sp>
        <p:nvSpPr>
          <p:cNvPr id="25" name="Text 23"/>
          <p:cNvSpPr/>
          <p:nvPr/>
        </p:nvSpPr>
        <p:spPr>
          <a:xfrm>
            <a:off x="6373368" y="1691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7772400" y="1691640"/>
            <a:ext cx="1325880" cy="420624"/>
          </a:xfrm>
          <a:prstGeom prst="roundRect">
            <a:avLst>
              <a:gd name="adj" fmla="val 8696"/>
            </a:avLst>
          </a:prstGeom>
          <a:solidFill>
            <a:srgbClr val="F9FAFB"/>
          </a:solidFill>
          <a:ln w="12700">
            <a:solidFill>
              <a:srgbClr val="E5E7EB"/>
            </a:solidFill>
            <a:prstDash val="solid"/>
          </a:ln>
        </p:spPr>
      </p:sp>
      <p:sp>
        <p:nvSpPr>
          <p:cNvPr id="27" name="Text 25"/>
          <p:cNvSpPr/>
          <p:nvPr/>
        </p:nvSpPr>
        <p:spPr>
          <a:xfrm>
            <a:off x="7772400" y="1691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320040" y="2148840"/>
            <a:ext cx="1828800" cy="420624"/>
          </a:xfrm>
          <a:prstGeom prst="roundRect">
            <a:avLst>
              <a:gd name="adj" fmla="val 8696"/>
            </a:avLst>
          </a:prstGeom>
          <a:solidFill>
            <a:srgbClr val="FFFFFF"/>
          </a:solidFill>
          <a:ln w="12700">
            <a:solidFill>
              <a:srgbClr val="E5E7EB"/>
            </a:solidFill>
            <a:prstDash val="solid"/>
          </a:ln>
        </p:spPr>
      </p:sp>
      <p:sp>
        <p:nvSpPr>
          <p:cNvPr id="29" name="Text 27"/>
          <p:cNvSpPr/>
          <p:nvPr/>
        </p:nvSpPr>
        <p:spPr>
          <a:xfrm>
            <a:off x="320040" y="21488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Clue</a:t>
            </a:r>
            <a:endParaRPr lang="en-US" sz="1300" dirty="0"/>
          </a:p>
        </p:txBody>
      </p:sp>
      <p:sp>
        <p:nvSpPr>
          <p:cNvPr id="30" name="Shape 28"/>
          <p:cNvSpPr/>
          <p:nvPr/>
        </p:nvSpPr>
        <p:spPr>
          <a:xfrm>
            <a:off x="2221992" y="2148840"/>
            <a:ext cx="1325880" cy="420624"/>
          </a:xfrm>
          <a:prstGeom prst="roundRect">
            <a:avLst>
              <a:gd name="adj" fmla="val 8696"/>
            </a:avLst>
          </a:prstGeom>
          <a:solidFill>
            <a:srgbClr val="FFFFFF"/>
          </a:solidFill>
          <a:ln w="12700">
            <a:solidFill>
              <a:srgbClr val="E5E7EB"/>
            </a:solidFill>
            <a:prstDash val="solid"/>
          </a:ln>
        </p:spPr>
      </p:sp>
      <p:sp>
        <p:nvSpPr>
          <p:cNvPr id="31" name="Text 29"/>
          <p:cNvSpPr/>
          <p:nvPr/>
        </p:nvSpPr>
        <p:spPr>
          <a:xfrm>
            <a:off x="2221992" y="21488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3621024" y="2148840"/>
            <a:ext cx="1325880" cy="420624"/>
          </a:xfrm>
          <a:prstGeom prst="roundRect">
            <a:avLst>
              <a:gd name="adj" fmla="val 8696"/>
            </a:avLst>
          </a:prstGeom>
          <a:solidFill>
            <a:srgbClr val="FFFFFF"/>
          </a:solidFill>
          <a:ln w="12700">
            <a:solidFill>
              <a:srgbClr val="E5E7EB"/>
            </a:solidFill>
            <a:prstDash val="solid"/>
          </a:ln>
        </p:spPr>
      </p:sp>
      <p:sp>
        <p:nvSpPr>
          <p:cNvPr id="33" name="Text 31"/>
          <p:cNvSpPr/>
          <p:nvPr/>
        </p:nvSpPr>
        <p:spPr>
          <a:xfrm>
            <a:off x="3621024" y="21488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5020056" y="2148840"/>
            <a:ext cx="1280160" cy="420624"/>
          </a:xfrm>
          <a:prstGeom prst="roundRect">
            <a:avLst>
              <a:gd name="adj" fmla="val 8696"/>
            </a:avLst>
          </a:prstGeom>
          <a:solidFill>
            <a:srgbClr val="FFFFFF"/>
          </a:solidFill>
          <a:ln w="12700">
            <a:solidFill>
              <a:srgbClr val="E5E7EB"/>
            </a:solidFill>
            <a:prstDash val="solid"/>
          </a:ln>
        </p:spPr>
      </p:sp>
      <p:sp>
        <p:nvSpPr>
          <p:cNvPr id="35" name="Text 33"/>
          <p:cNvSpPr/>
          <p:nvPr/>
        </p:nvSpPr>
        <p:spPr>
          <a:xfrm>
            <a:off x="5020056" y="2148840"/>
            <a:ext cx="128016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36" name="Shape 34"/>
          <p:cNvSpPr/>
          <p:nvPr/>
        </p:nvSpPr>
        <p:spPr>
          <a:xfrm>
            <a:off x="6373368" y="2148840"/>
            <a:ext cx="1325880" cy="420624"/>
          </a:xfrm>
          <a:prstGeom prst="roundRect">
            <a:avLst>
              <a:gd name="adj" fmla="val 8696"/>
            </a:avLst>
          </a:prstGeom>
          <a:solidFill>
            <a:srgbClr val="FFFFFF"/>
          </a:solidFill>
          <a:ln w="12700">
            <a:solidFill>
              <a:srgbClr val="E5E7EB"/>
            </a:solidFill>
            <a:prstDash val="solid"/>
          </a:ln>
        </p:spPr>
      </p:sp>
      <p:sp>
        <p:nvSpPr>
          <p:cNvPr id="37" name="Text 35"/>
          <p:cNvSpPr/>
          <p:nvPr/>
        </p:nvSpPr>
        <p:spPr>
          <a:xfrm>
            <a:off x="6373368" y="21488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38" name="Shape 36"/>
          <p:cNvSpPr/>
          <p:nvPr/>
        </p:nvSpPr>
        <p:spPr>
          <a:xfrm>
            <a:off x="7772400" y="2148840"/>
            <a:ext cx="1325880" cy="420624"/>
          </a:xfrm>
          <a:prstGeom prst="roundRect">
            <a:avLst>
              <a:gd name="adj" fmla="val 8696"/>
            </a:avLst>
          </a:prstGeom>
          <a:solidFill>
            <a:srgbClr val="FFFFFF"/>
          </a:solidFill>
          <a:ln w="12700">
            <a:solidFill>
              <a:srgbClr val="E5E7EB"/>
            </a:solidFill>
            <a:prstDash val="solid"/>
          </a:ln>
        </p:spPr>
      </p:sp>
      <p:sp>
        <p:nvSpPr>
          <p:cNvPr id="39" name="Text 37"/>
          <p:cNvSpPr/>
          <p:nvPr/>
        </p:nvSpPr>
        <p:spPr>
          <a:xfrm>
            <a:off x="7772400" y="21488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320040" y="2606040"/>
            <a:ext cx="1828800" cy="420624"/>
          </a:xfrm>
          <a:prstGeom prst="roundRect">
            <a:avLst>
              <a:gd name="adj" fmla="val 8696"/>
            </a:avLst>
          </a:prstGeom>
          <a:solidFill>
            <a:srgbClr val="F9FAFB"/>
          </a:solidFill>
          <a:ln w="12700">
            <a:solidFill>
              <a:srgbClr val="E5E7EB"/>
            </a:solidFill>
            <a:prstDash val="solid"/>
          </a:ln>
        </p:spPr>
      </p:sp>
      <p:sp>
        <p:nvSpPr>
          <p:cNvPr id="41" name="Text 39"/>
          <p:cNvSpPr/>
          <p:nvPr/>
        </p:nvSpPr>
        <p:spPr>
          <a:xfrm>
            <a:off x="320040" y="26060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bSafe</a:t>
            </a:r>
            <a:endParaRPr lang="en-US" sz="1300" dirty="0"/>
          </a:p>
        </p:txBody>
      </p:sp>
      <p:sp>
        <p:nvSpPr>
          <p:cNvPr id="42" name="Shape 40"/>
          <p:cNvSpPr/>
          <p:nvPr/>
        </p:nvSpPr>
        <p:spPr>
          <a:xfrm>
            <a:off x="2221992" y="2606040"/>
            <a:ext cx="1325880" cy="420624"/>
          </a:xfrm>
          <a:prstGeom prst="roundRect">
            <a:avLst>
              <a:gd name="adj" fmla="val 8696"/>
            </a:avLst>
          </a:prstGeom>
          <a:solidFill>
            <a:srgbClr val="F9FAFB"/>
          </a:solidFill>
          <a:ln w="12700">
            <a:solidFill>
              <a:srgbClr val="E5E7EB"/>
            </a:solidFill>
            <a:prstDash val="solid"/>
          </a:ln>
        </p:spPr>
      </p:sp>
      <p:sp>
        <p:nvSpPr>
          <p:cNvPr id="43" name="Text 41"/>
          <p:cNvSpPr/>
          <p:nvPr/>
        </p:nvSpPr>
        <p:spPr>
          <a:xfrm>
            <a:off x="2221992" y="26060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44" name="Shape 42"/>
          <p:cNvSpPr/>
          <p:nvPr/>
        </p:nvSpPr>
        <p:spPr>
          <a:xfrm>
            <a:off x="3621024" y="2606040"/>
            <a:ext cx="1325880" cy="420624"/>
          </a:xfrm>
          <a:prstGeom prst="roundRect">
            <a:avLst>
              <a:gd name="adj" fmla="val 8696"/>
            </a:avLst>
          </a:prstGeom>
          <a:solidFill>
            <a:srgbClr val="F9FAFB"/>
          </a:solidFill>
          <a:ln w="12700">
            <a:solidFill>
              <a:srgbClr val="E5E7EB"/>
            </a:solidFill>
            <a:prstDash val="solid"/>
          </a:ln>
        </p:spPr>
      </p:sp>
      <p:sp>
        <p:nvSpPr>
          <p:cNvPr id="45" name="Text 43"/>
          <p:cNvSpPr/>
          <p:nvPr/>
        </p:nvSpPr>
        <p:spPr>
          <a:xfrm>
            <a:off x="3621024" y="26060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46" name="Shape 44"/>
          <p:cNvSpPr/>
          <p:nvPr/>
        </p:nvSpPr>
        <p:spPr>
          <a:xfrm>
            <a:off x="5020056" y="2606040"/>
            <a:ext cx="1280160" cy="420624"/>
          </a:xfrm>
          <a:prstGeom prst="roundRect">
            <a:avLst>
              <a:gd name="adj" fmla="val 8696"/>
            </a:avLst>
          </a:prstGeom>
          <a:solidFill>
            <a:srgbClr val="F9FAFB"/>
          </a:solidFill>
          <a:ln w="12700">
            <a:solidFill>
              <a:srgbClr val="E5E7EB"/>
            </a:solidFill>
            <a:prstDash val="solid"/>
          </a:ln>
        </p:spPr>
      </p:sp>
      <p:sp>
        <p:nvSpPr>
          <p:cNvPr id="47" name="Text 45"/>
          <p:cNvSpPr/>
          <p:nvPr/>
        </p:nvSpPr>
        <p:spPr>
          <a:xfrm>
            <a:off x="5020056" y="2606040"/>
            <a:ext cx="128016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48" name="Shape 46"/>
          <p:cNvSpPr/>
          <p:nvPr/>
        </p:nvSpPr>
        <p:spPr>
          <a:xfrm>
            <a:off x="6373368" y="2606040"/>
            <a:ext cx="1325880" cy="420624"/>
          </a:xfrm>
          <a:prstGeom prst="roundRect">
            <a:avLst>
              <a:gd name="adj" fmla="val 8696"/>
            </a:avLst>
          </a:prstGeom>
          <a:solidFill>
            <a:srgbClr val="F9FAFB"/>
          </a:solidFill>
          <a:ln w="12700">
            <a:solidFill>
              <a:srgbClr val="E5E7EB"/>
            </a:solidFill>
            <a:prstDash val="solid"/>
          </a:ln>
        </p:spPr>
      </p:sp>
      <p:sp>
        <p:nvSpPr>
          <p:cNvPr id="49" name="Text 47"/>
          <p:cNvSpPr/>
          <p:nvPr/>
        </p:nvSpPr>
        <p:spPr>
          <a:xfrm>
            <a:off x="6373368" y="26060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50" name="Shape 48"/>
          <p:cNvSpPr/>
          <p:nvPr/>
        </p:nvSpPr>
        <p:spPr>
          <a:xfrm>
            <a:off x="7772400" y="2606040"/>
            <a:ext cx="1325880" cy="420624"/>
          </a:xfrm>
          <a:prstGeom prst="roundRect">
            <a:avLst>
              <a:gd name="adj" fmla="val 8696"/>
            </a:avLst>
          </a:prstGeom>
          <a:solidFill>
            <a:srgbClr val="F9FAFB"/>
          </a:solidFill>
          <a:ln w="12700">
            <a:solidFill>
              <a:srgbClr val="E5E7EB"/>
            </a:solidFill>
            <a:prstDash val="solid"/>
          </a:ln>
        </p:spPr>
      </p:sp>
      <p:sp>
        <p:nvSpPr>
          <p:cNvPr id="51" name="Text 49"/>
          <p:cNvSpPr/>
          <p:nvPr/>
        </p:nvSpPr>
        <p:spPr>
          <a:xfrm>
            <a:off x="7772400" y="26060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52" name="Shape 50"/>
          <p:cNvSpPr/>
          <p:nvPr/>
        </p:nvSpPr>
        <p:spPr>
          <a:xfrm>
            <a:off x="320040" y="3063240"/>
            <a:ext cx="1828800" cy="420624"/>
          </a:xfrm>
          <a:prstGeom prst="roundRect">
            <a:avLst>
              <a:gd name="adj" fmla="val 8696"/>
            </a:avLst>
          </a:prstGeom>
          <a:solidFill>
            <a:srgbClr val="FFFFFF"/>
          </a:solidFill>
          <a:ln w="12700">
            <a:solidFill>
              <a:srgbClr val="E5E7EB"/>
            </a:solidFill>
            <a:prstDash val="solid"/>
          </a:ln>
        </p:spPr>
      </p:sp>
      <p:sp>
        <p:nvSpPr>
          <p:cNvPr id="53" name="Text 51"/>
          <p:cNvSpPr/>
          <p:nvPr/>
        </p:nvSpPr>
        <p:spPr>
          <a:xfrm>
            <a:off x="320040" y="30632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Daylio</a:t>
            </a:r>
            <a:endParaRPr lang="en-US" sz="1300" dirty="0"/>
          </a:p>
        </p:txBody>
      </p:sp>
      <p:sp>
        <p:nvSpPr>
          <p:cNvPr id="54" name="Shape 52"/>
          <p:cNvSpPr/>
          <p:nvPr/>
        </p:nvSpPr>
        <p:spPr>
          <a:xfrm>
            <a:off x="2221992" y="3063240"/>
            <a:ext cx="1325880" cy="420624"/>
          </a:xfrm>
          <a:prstGeom prst="roundRect">
            <a:avLst>
              <a:gd name="adj" fmla="val 8696"/>
            </a:avLst>
          </a:prstGeom>
          <a:solidFill>
            <a:srgbClr val="FFFFFF"/>
          </a:solidFill>
          <a:ln w="12700">
            <a:solidFill>
              <a:srgbClr val="E5E7EB"/>
            </a:solidFill>
            <a:prstDash val="solid"/>
          </a:ln>
        </p:spPr>
      </p:sp>
      <p:sp>
        <p:nvSpPr>
          <p:cNvPr id="55" name="Text 53"/>
          <p:cNvSpPr/>
          <p:nvPr/>
        </p:nvSpPr>
        <p:spPr>
          <a:xfrm>
            <a:off x="2221992" y="30632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56" name="Shape 54"/>
          <p:cNvSpPr/>
          <p:nvPr/>
        </p:nvSpPr>
        <p:spPr>
          <a:xfrm>
            <a:off x="3621024" y="3063240"/>
            <a:ext cx="1325880" cy="420624"/>
          </a:xfrm>
          <a:prstGeom prst="roundRect">
            <a:avLst>
              <a:gd name="adj" fmla="val 8696"/>
            </a:avLst>
          </a:prstGeom>
          <a:solidFill>
            <a:srgbClr val="FFFFFF"/>
          </a:solidFill>
          <a:ln w="12700">
            <a:solidFill>
              <a:srgbClr val="E5E7EB"/>
            </a:solidFill>
            <a:prstDash val="solid"/>
          </a:ln>
        </p:spPr>
      </p:sp>
      <p:sp>
        <p:nvSpPr>
          <p:cNvPr id="57" name="Text 55"/>
          <p:cNvSpPr/>
          <p:nvPr/>
        </p:nvSpPr>
        <p:spPr>
          <a:xfrm>
            <a:off x="3621024" y="30632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58" name="Shape 56"/>
          <p:cNvSpPr/>
          <p:nvPr/>
        </p:nvSpPr>
        <p:spPr>
          <a:xfrm>
            <a:off x="5020056" y="3063240"/>
            <a:ext cx="1280160" cy="420624"/>
          </a:xfrm>
          <a:prstGeom prst="roundRect">
            <a:avLst>
              <a:gd name="adj" fmla="val 8696"/>
            </a:avLst>
          </a:prstGeom>
          <a:solidFill>
            <a:srgbClr val="FFFFFF"/>
          </a:solidFill>
          <a:ln w="12700">
            <a:solidFill>
              <a:srgbClr val="E5E7EB"/>
            </a:solidFill>
            <a:prstDash val="solid"/>
          </a:ln>
        </p:spPr>
      </p:sp>
      <p:sp>
        <p:nvSpPr>
          <p:cNvPr id="59" name="Text 57"/>
          <p:cNvSpPr/>
          <p:nvPr/>
        </p:nvSpPr>
        <p:spPr>
          <a:xfrm>
            <a:off x="5020056" y="3063240"/>
            <a:ext cx="128016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60" name="Shape 58"/>
          <p:cNvSpPr/>
          <p:nvPr/>
        </p:nvSpPr>
        <p:spPr>
          <a:xfrm>
            <a:off x="6373368" y="3063240"/>
            <a:ext cx="1325880" cy="420624"/>
          </a:xfrm>
          <a:prstGeom prst="roundRect">
            <a:avLst>
              <a:gd name="adj" fmla="val 8696"/>
            </a:avLst>
          </a:prstGeom>
          <a:solidFill>
            <a:srgbClr val="FFFFFF"/>
          </a:solidFill>
          <a:ln w="12700">
            <a:solidFill>
              <a:srgbClr val="E5E7EB"/>
            </a:solidFill>
            <a:prstDash val="solid"/>
          </a:ln>
        </p:spPr>
      </p:sp>
      <p:sp>
        <p:nvSpPr>
          <p:cNvPr id="61" name="Text 59"/>
          <p:cNvSpPr/>
          <p:nvPr/>
        </p:nvSpPr>
        <p:spPr>
          <a:xfrm>
            <a:off x="6373368" y="30632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62" name="Shape 60"/>
          <p:cNvSpPr/>
          <p:nvPr/>
        </p:nvSpPr>
        <p:spPr>
          <a:xfrm>
            <a:off x="7772400" y="3063240"/>
            <a:ext cx="1325880" cy="420624"/>
          </a:xfrm>
          <a:prstGeom prst="roundRect">
            <a:avLst>
              <a:gd name="adj" fmla="val 8696"/>
            </a:avLst>
          </a:prstGeom>
          <a:solidFill>
            <a:srgbClr val="FFFFFF"/>
          </a:solidFill>
          <a:ln w="12700">
            <a:solidFill>
              <a:srgbClr val="E5E7EB"/>
            </a:solidFill>
            <a:prstDash val="solid"/>
          </a:ln>
        </p:spPr>
      </p:sp>
      <p:sp>
        <p:nvSpPr>
          <p:cNvPr id="63" name="Text 61"/>
          <p:cNvSpPr/>
          <p:nvPr/>
        </p:nvSpPr>
        <p:spPr>
          <a:xfrm>
            <a:off x="7772400" y="30632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64" name="Shape 62"/>
          <p:cNvSpPr/>
          <p:nvPr/>
        </p:nvSpPr>
        <p:spPr>
          <a:xfrm>
            <a:off x="320040" y="3520440"/>
            <a:ext cx="1828800" cy="420624"/>
          </a:xfrm>
          <a:prstGeom prst="roundRect">
            <a:avLst>
              <a:gd name="adj" fmla="val 8696"/>
            </a:avLst>
          </a:prstGeom>
          <a:solidFill>
            <a:srgbClr val="F9FAFB"/>
          </a:solidFill>
          <a:ln w="12700">
            <a:solidFill>
              <a:srgbClr val="E5E7EB"/>
            </a:solidFill>
            <a:prstDash val="solid"/>
          </a:ln>
        </p:spPr>
      </p:sp>
      <p:sp>
        <p:nvSpPr>
          <p:cNvPr id="65" name="Text 63"/>
          <p:cNvSpPr/>
          <p:nvPr/>
        </p:nvSpPr>
        <p:spPr>
          <a:xfrm>
            <a:off x="320040" y="35204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NIRAAH</a:t>
            </a:r>
            <a:endParaRPr lang="en-US" sz="1300" dirty="0"/>
          </a:p>
        </p:txBody>
      </p:sp>
      <p:sp>
        <p:nvSpPr>
          <p:cNvPr id="66" name="Shape 64"/>
          <p:cNvSpPr/>
          <p:nvPr/>
        </p:nvSpPr>
        <p:spPr>
          <a:xfrm>
            <a:off x="2221992" y="3520440"/>
            <a:ext cx="1325880" cy="420624"/>
          </a:xfrm>
          <a:prstGeom prst="roundRect">
            <a:avLst>
              <a:gd name="adj" fmla="val 8696"/>
            </a:avLst>
          </a:prstGeom>
          <a:solidFill>
            <a:srgbClr val="F9FAFB"/>
          </a:solidFill>
          <a:ln w="12700">
            <a:solidFill>
              <a:srgbClr val="E5E7EB"/>
            </a:solidFill>
            <a:prstDash val="solid"/>
          </a:ln>
        </p:spPr>
      </p:sp>
      <p:sp>
        <p:nvSpPr>
          <p:cNvPr id="67" name="Text 65"/>
          <p:cNvSpPr/>
          <p:nvPr/>
        </p:nvSpPr>
        <p:spPr>
          <a:xfrm>
            <a:off x="2221992" y="35204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68" name="Shape 66"/>
          <p:cNvSpPr/>
          <p:nvPr/>
        </p:nvSpPr>
        <p:spPr>
          <a:xfrm>
            <a:off x="3621024" y="3520440"/>
            <a:ext cx="1325880" cy="420624"/>
          </a:xfrm>
          <a:prstGeom prst="roundRect">
            <a:avLst>
              <a:gd name="adj" fmla="val 8696"/>
            </a:avLst>
          </a:prstGeom>
          <a:solidFill>
            <a:srgbClr val="F9FAFB"/>
          </a:solidFill>
          <a:ln w="12700">
            <a:solidFill>
              <a:srgbClr val="E5E7EB"/>
            </a:solidFill>
            <a:prstDash val="solid"/>
          </a:ln>
        </p:spPr>
      </p:sp>
      <p:sp>
        <p:nvSpPr>
          <p:cNvPr id="69" name="Text 67"/>
          <p:cNvSpPr/>
          <p:nvPr/>
        </p:nvSpPr>
        <p:spPr>
          <a:xfrm>
            <a:off x="3621024" y="35204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70" name="Shape 68"/>
          <p:cNvSpPr/>
          <p:nvPr/>
        </p:nvSpPr>
        <p:spPr>
          <a:xfrm>
            <a:off x="5020056" y="3520440"/>
            <a:ext cx="1280160" cy="420624"/>
          </a:xfrm>
          <a:prstGeom prst="roundRect">
            <a:avLst>
              <a:gd name="adj" fmla="val 8696"/>
            </a:avLst>
          </a:prstGeom>
          <a:solidFill>
            <a:srgbClr val="F9FAFB"/>
          </a:solidFill>
          <a:ln w="12700">
            <a:solidFill>
              <a:srgbClr val="E5E7EB"/>
            </a:solidFill>
            <a:prstDash val="solid"/>
          </a:ln>
        </p:spPr>
      </p:sp>
      <p:sp>
        <p:nvSpPr>
          <p:cNvPr id="71" name="Text 69"/>
          <p:cNvSpPr/>
          <p:nvPr/>
        </p:nvSpPr>
        <p:spPr>
          <a:xfrm>
            <a:off x="5020056" y="3520440"/>
            <a:ext cx="128016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72" name="Shape 70"/>
          <p:cNvSpPr/>
          <p:nvPr/>
        </p:nvSpPr>
        <p:spPr>
          <a:xfrm>
            <a:off x="6373368" y="3520440"/>
            <a:ext cx="1325880" cy="420624"/>
          </a:xfrm>
          <a:prstGeom prst="roundRect">
            <a:avLst>
              <a:gd name="adj" fmla="val 8696"/>
            </a:avLst>
          </a:prstGeom>
          <a:solidFill>
            <a:srgbClr val="F9FAFB"/>
          </a:solidFill>
          <a:ln w="12700">
            <a:solidFill>
              <a:srgbClr val="E5E7EB"/>
            </a:solidFill>
            <a:prstDash val="solid"/>
          </a:ln>
        </p:spPr>
      </p:sp>
      <p:sp>
        <p:nvSpPr>
          <p:cNvPr id="73" name="Text 71"/>
          <p:cNvSpPr/>
          <p:nvPr/>
        </p:nvSpPr>
        <p:spPr>
          <a:xfrm>
            <a:off x="6373368" y="35204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74" name="Shape 72"/>
          <p:cNvSpPr/>
          <p:nvPr/>
        </p:nvSpPr>
        <p:spPr>
          <a:xfrm>
            <a:off x="7772400" y="3520440"/>
            <a:ext cx="1325880" cy="420624"/>
          </a:xfrm>
          <a:prstGeom prst="roundRect">
            <a:avLst>
              <a:gd name="adj" fmla="val 8696"/>
            </a:avLst>
          </a:prstGeom>
          <a:solidFill>
            <a:srgbClr val="F9FAFB"/>
          </a:solidFill>
          <a:ln w="12700">
            <a:solidFill>
              <a:srgbClr val="E5E7EB"/>
            </a:solidFill>
            <a:prstDash val="solid"/>
          </a:ln>
        </p:spPr>
      </p:sp>
      <p:sp>
        <p:nvSpPr>
          <p:cNvPr id="75" name="Text 73"/>
          <p:cNvSpPr/>
          <p:nvPr/>
        </p:nvSpPr>
        <p:spPr>
          <a:xfrm>
            <a:off x="7772400" y="35204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76" name="Shape 74"/>
          <p:cNvSpPr/>
          <p:nvPr/>
        </p:nvSpPr>
        <p:spPr>
          <a:xfrm>
            <a:off x="320040" y="3977640"/>
            <a:ext cx="1828800" cy="420624"/>
          </a:xfrm>
          <a:prstGeom prst="roundRect">
            <a:avLst>
              <a:gd name="adj" fmla="val 8696"/>
            </a:avLst>
          </a:prstGeom>
          <a:solidFill>
            <a:srgbClr val="FFFFFF"/>
          </a:solidFill>
          <a:ln w="12700">
            <a:solidFill>
              <a:srgbClr val="E5E7EB"/>
            </a:solidFill>
            <a:prstDash val="solid"/>
          </a:ln>
        </p:spPr>
      </p:sp>
      <p:sp>
        <p:nvSpPr>
          <p:cNvPr id="77" name="Text 75"/>
          <p:cNvSpPr/>
          <p:nvPr/>
        </p:nvSpPr>
        <p:spPr>
          <a:xfrm>
            <a:off x="320040" y="3977640"/>
            <a:ext cx="1828800" cy="420624"/>
          </a:xfrm>
          <a:prstGeom prst="rect">
            <a:avLst/>
          </a:prstGeom>
          <a:noFill/>
          <a:ln/>
        </p:spPr>
        <p:txBody>
          <a:bodyPr wrap="square" lIns="0" tIns="0" rIns="0" bIns="0" rtlCol="0" anchor="ctr"/>
          <a:lstStyle/>
          <a:p>
            <a:pPr algn="ctr" indent="0" marL="0">
              <a:buNone/>
            </a:pPr>
            <a:r>
              <a:rPr lang="en-US" sz="1300" dirty="0">
                <a:solidFill>
                  <a:srgbClr val="1A1A2E"/>
                </a:solidFill>
                <a:latin typeface="Calibri" pitchFamily="34" charset="0"/>
                <a:ea typeface="Calibri" pitchFamily="34" charset="-122"/>
                <a:cs typeface="Calibri" pitchFamily="34" charset="-120"/>
              </a:rPr>
              <a:t>ANARKI</a:t>
            </a:r>
            <a:endParaRPr lang="en-US" sz="1300" dirty="0"/>
          </a:p>
        </p:txBody>
      </p:sp>
      <p:sp>
        <p:nvSpPr>
          <p:cNvPr id="78" name="Shape 76"/>
          <p:cNvSpPr/>
          <p:nvPr/>
        </p:nvSpPr>
        <p:spPr>
          <a:xfrm>
            <a:off x="2221992" y="3977640"/>
            <a:ext cx="1325880" cy="420624"/>
          </a:xfrm>
          <a:prstGeom prst="roundRect">
            <a:avLst>
              <a:gd name="adj" fmla="val 8696"/>
            </a:avLst>
          </a:prstGeom>
          <a:solidFill>
            <a:srgbClr val="FFFFFF"/>
          </a:solidFill>
          <a:ln w="12700">
            <a:solidFill>
              <a:srgbClr val="E5E7EB"/>
            </a:solidFill>
            <a:prstDash val="solid"/>
          </a:ln>
        </p:spPr>
      </p:sp>
      <p:sp>
        <p:nvSpPr>
          <p:cNvPr id="79" name="Text 77"/>
          <p:cNvSpPr/>
          <p:nvPr/>
        </p:nvSpPr>
        <p:spPr>
          <a:xfrm>
            <a:off x="2221992" y="3977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80" name="Shape 78"/>
          <p:cNvSpPr/>
          <p:nvPr/>
        </p:nvSpPr>
        <p:spPr>
          <a:xfrm>
            <a:off x="3621024" y="3977640"/>
            <a:ext cx="1325880" cy="420624"/>
          </a:xfrm>
          <a:prstGeom prst="roundRect">
            <a:avLst>
              <a:gd name="adj" fmla="val 8696"/>
            </a:avLst>
          </a:prstGeom>
          <a:solidFill>
            <a:srgbClr val="FFFFFF"/>
          </a:solidFill>
          <a:ln w="12700">
            <a:solidFill>
              <a:srgbClr val="E5E7EB"/>
            </a:solidFill>
            <a:prstDash val="solid"/>
          </a:ln>
        </p:spPr>
      </p:sp>
      <p:sp>
        <p:nvSpPr>
          <p:cNvPr id="81" name="Text 79"/>
          <p:cNvSpPr/>
          <p:nvPr/>
        </p:nvSpPr>
        <p:spPr>
          <a:xfrm>
            <a:off x="3621024" y="3977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82" name="Shape 80"/>
          <p:cNvSpPr/>
          <p:nvPr/>
        </p:nvSpPr>
        <p:spPr>
          <a:xfrm>
            <a:off x="5020056" y="3977640"/>
            <a:ext cx="1280160" cy="420624"/>
          </a:xfrm>
          <a:prstGeom prst="roundRect">
            <a:avLst>
              <a:gd name="adj" fmla="val 8696"/>
            </a:avLst>
          </a:prstGeom>
          <a:solidFill>
            <a:srgbClr val="FFFFFF"/>
          </a:solidFill>
          <a:ln w="12700">
            <a:solidFill>
              <a:srgbClr val="E5E7EB"/>
            </a:solidFill>
            <a:prstDash val="solid"/>
          </a:ln>
        </p:spPr>
      </p:sp>
      <p:sp>
        <p:nvSpPr>
          <p:cNvPr id="83" name="Text 81"/>
          <p:cNvSpPr/>
          <p:nvPr/>
        </p:nvSpPr>
        <p:spPr>
          <a:xfrm>
            <a:off x="5020056" y="3977640"/>
            <a:ext cx="128016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84" name="Shape 82"/>
          <p:cNvSpPr/>
          <p:nvPr/>
        </p:nvSpPr>
        <p:spPr>
          <a:xfrm>
            <a:off x="6373368" y="3977640"/>
            <a:ext cx="1325880" cy="420624"/>
          </a:xfrm>
          <a:prstGeom prst="roundRect">
            <a:avLst>
              <a:gd name="adj" fmla="val 8696"/>
            </a:avLst>
          </a:prstGeom>
          <a:solidFill>
            <a:srgbClr val="FFFFFF"/>
          </a:solidFill>
          <a:ln w="12700">
            <a:solidFill>
              <a:srgbClr val="E5E7EB"/>
            </a:solidFill>
            <a:prstDash val="solid"/>
          </a:ln>
        </p:spPr>
      </p:sp>
      <p:sp>
        <p:nvSpPr>
          <p:cNvPr id="85" name="Text 83"/>
          <p:cNvSpPr/>
          <p:nvPr/>
        </p:nvSpPr>
        <p:spPr>
          <a:xfrm>
            <a:off x="6373368" y="3977640"/>
            <a:ext cx="1325880" cy="420624"/>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86" name="Shape 84"/>
          <p:cNvSpPr/>
          <p:nvPr/>
        </p:nvSpPr>
        <p:spPr>
          <a:xfrm>
            <a:off x="7772400" y="3977640"/>
            <a:ext cx="1325880" cy="420624"/>
          </a:xfrm>
          <a:prstGeom prst="roundRect">
            <a:avLst>
              <a:gd name="adj" fmla="val 8696"/>
            </a:avLst>
          </a:prstGeom>
          <a:solidFill>
            <a:srgbClr val="FFFFFF"/>
          </a:solidFill>
          <a:ln w="12700">
            <a:solidFill>
              <a:srgbClr val="E5E7EB"/>
            </a:solidFill>
            <a:prstDash val="solid"/>
          </a:ln>
        </p:spPr>
      </p:sp>
      <p:sp>
        <p:nvSpPr>
          <p:cNvPr id="87" name="Text 85"/>
          <p:cNvSpPr/>
          <p:nvPr/>
        </p:nvSpPr>
        <p:spPr>
          <a:xfrm>
            <a:off x="7772400" y="3977640"/>
            <a:ext cx="1325880" cy="420624"/>
          </a:xfrm>
          <a:prstGeom prst="rect">
            <a:avLst/>
          </a:prstGeom>
          <a:noFill/>
          <a:ln/>
        </p:spPr>
        <p:txBody>
          <a:bodyPr wrap="square" lIns="0" tIns="0" rIns="0" bIns="0" rtlCol="0" anchor="ctr"/>
          <a:lstStyle/>
          <a:p>
            <a:pPr algn="ctr" indent="0" marL="0">
              <a:buNone/>
            </a:pPr>
            <a:r>
              <a:rPr lang="en-US" sz="1300" dirty="0">
                <a:solidFill>
                  <a:srgbClr val="C2185B"/>
                </a:solidFill>
                <a:latin typeface="Calibri" pitchFamily="34" charset="0"/>
                <a:ea typeface="Calibri" pitchFamily="34" charset="-122"/>
                <a:cs typeface="Calibri" pitchFamily="34" charset="-120"/>
              </a:rPr>
              <a:t>✗</a:t>
            </a:r>
            <a:endParaRPr lang="en-US" sz="1300" dirty="0"/>
          </a:p>
        </p:txBody>
      </p:sp>
      <p:sp>
        <p:nvSpPr>
          <p:cNvPr id="88" name="Shape 86"/>
          <p:cNvSpPr/>
          <p:nvPr/>
        </p:nvSpPr>
        <p:spPr>
          <a:xfrm>
            <a:off x="320040" y="4434840"/>
            <a:ext cx="1828800" cy="420624"/>
          </a:xfrm>
          <a:prstGeom prst="roundRect">
            <a:avLst>
              <a:gd name="adj" fmla="val 8696"/>
            </a:avLst>
          </a:prstGeom>
          <a:solidFill>
            <a:srgbClr val="EDE7F6"/>
          </a:solidFill>
          <a:ln w="12700">
            <a:solidFill>
              <a:srgbClr val="E5E7EB"/>
            </a:solidFill>
            <a:prstDash val="solid"/>
          </a:ln>
        </p:spPr>
      </p:sp>
      <p:sp>
        <p:nvSpPr>
          <p:cNvPr id="89" name="Text 87"/>
          <p:cNvSpPr/>
          <p:nvPr/>
        </p:nvSpPr>
        <p:spPr>
          <a:xfrm>
            <a:off x="320040" y="4434840"/>
            <a:ext cx="1828800" cy="420624"/>
          </a:xfrm>
          <a:prstGeom prst="rect">
            <a:avLst/>
          </a:prstGeom>
          <a:noFill/>
          <a:ln/>
        </p:spPr>
        <p:txBody>
          <a:bodyPr wrap="square" lIns="0" tIns="0" rIns="0" bIns="0" rtlCol="0" anchor="ctr"/>
          <a:lstStyle/>
          <a:p>
            <a:pPr algn="ctr" indent="0" marL="0">
              <a:buNone/>
            </a:pPr>
            <a:r>
              <a:rPr lang="en-US" sz="1050" b="1" dirty="0">
                <a:solidFill>
                  <a:srgbClr val="7B2D8B"/>
                </a:solidFill>
                <a:latin typeface="Calibri" pitchFamily="34" charset="0"/>
                <a:ea typeface="Calibri" pitchFamily="34" charset="-122"/>
                <a:cs typeface="Calibri" pitchFamily="34" charset="-120"/>
              </a:rPr>
              <a:t>Our Platform ✦</a:t>
            </a:r>
            <a:endParaRPr lang="en-US" sz="1050" dirty="0"/>
          </a:p>
        </p:txBody>
      </p:sp>
      <p:sp>
        <p:nvSpPr>
          <p:cNvPr id="90" name="Shape 88"/>
          <p:cNvSpPr/>
          <p:nvPr/>
        </p:nvSpPr>
        <p:spPr>
          <a:xfrm>
            <a:off x="2221992" y="4434840"/>
            <a:ext cx="1325880" cy="420624"/>
          </a:xfrm>
          <a:prstGeom prst="roundRect">
            <a:avLst>
              <a:gd name="adj" fmla="val 8696"/>
            </a:avLst>
          </a:prstGeom>
          <a:solidFill>
            <a:srgbClr val="EDE7F6"/>
          </a:solidFill>
          <a:ln w="12700">
            <a:solidFill>
              <a:srgbClr val="E5E7EB"/>
            </a:solidFill>
            <a:prstDash val="solid"/>
          </a:ln>
        </p:spPr>
      </p:sp>
      <p:sp>
        <p:nvSpPr>
          <p:cNvPr id="91" name="Text 89"/>
          <p:cNvSpPr/>
          <p:nvPr/>
        </p:nvSpPr>
        <p:spPr>
          <a:xfrm>
            <a:off x="2221992" y="4434840"/>
            <a:ext cx="1325880" cy="420624"/>
          </a:xfrm>
          <a:prstGeom prst="rect">
            <a:avLst/>
          </a:prstGeom>
          <a:noFill/>
          <a:ln/>
        </p:spPr>
        <p:txBody>
          <a:bodyPr wrap="square" lIns="0" tIns="0" rIns="0" bIns="0" rtlCol="0" anchor="ctr"/>
          <a:lstStyle/>
          <a:p>
            <a:pPr algn="ctr" indent="0" marL="0">
              <a:buNone/>
            </a:pPr>
            <a:r>
              <a:rPr lang="en-US" sz="1300" b="1" dirty="0">
                <a:solidFill>
                  <a:srgbClr val="7B2D8B"/>
                </a:solidFill>
                <a:latin typeface="Calibri" pitchFamily="34" charset="0"/>
                <a:ea typeface="Calibri" pitchFamily="34" charset="-122"/>
                <a:cs typeface="Calibri" pitchFamily="34" charset="-120"/>
              </a:rPr>
              <a:t>✓</a:t>
            </a:r>
            <a:endParaRPr lang="en-US" sz="1300" dirty="0"/>
          </a:p>
        </p:txBody>
      </p:sp>
      <p:sp>
        <p:nvSpPr>
          <p:cNvPr id="92" name="Shape 90"/>
          <p:cNvSpPr/>
          <p:nvPr/>
        </p:nvSpPr>
        <p:spPr>
          <a:xfrm>
            <a:off x="3621024" y="4434840"/>
            <a:ext cx="1325880" cy="420624"/>
          </a:xfrm>
          <a:prstGeom prst="roundRect">
            <a:avLst>
              <a:gd name="adj" fmla="val 8696"/>
            </a:avLst>
          </a:prstGeom>
          <a:solidFill>
            <a:srgbClr val="EDE7F6"/>
          </a:solidFill>
          <a:ln w="12700">
            <a:solidFill>
              <a:srgbClr val="E5E7EB"/>
            </a:solidFill>
            <a:prstDash val="solid"/>
          </a:ln>
        </p:spPr>
      </p:sp>
      <p:sp>
        <p:nvSpPr>
          <p:cNvPr id="93" name="Text 91"/>
          <p:cNvSpPr/>
          <p:nvPr/>
        </p:nvSpPr>
        <p:spPr>
          <a:xfrm>
            <a:off x="3621024" y="4434840"/>
            <a:ext cx="1325880" cy="420624"/>
          </a:xfrm>
          <a:prstGeom prst="rect">
            <a:avLst/>
          </a:prstGeom>
          <a:noFill/>
          <a:ln/>
        </p:spPr>
        <p:txBody>
          <a:bodyPr wrap="square" lIns="0" tIns="0" rIns="0" bIns="0" rtlCol="0" anchor="ctr"/>
          <a:lstStyle/>
          <a:p>
            <a:pPr algn="ctr" indent="0" marL="0">
              <a:buNone/>
            </a:pPr>
            <a:r>
              <a:rPr lang="en-US" sz="1300" b="1" dirty="0">
                <a:solidFill>
                  <a:srgbClr val="7B2D8B"/>
                </a:solidFill>
                <a:latin typeface="Calibri" pitchFamily="34" charset="0"/>
                <a:ea typeface="Calibri" pitchFamily="34" charset="-122"/>
                <a:cs typeface="Calibri" pitchFamily="34" charset="-120"/>
              </a:rPr>
              <a:t>✓</a:t>
            </a:r>
            <a:endParaRPr lang="en-US" sz="1300" dirty="0"/>
          </a:p>
        </p:txBody>
      </p:sp>
      <p:sp>
        <p:nvSpPr>
          <p:cNvPr id="94" name="Shape 92"/>
          <p:cNvSpPr/>
          <p:nvPr/>
        </p:nvSpPr>
        <p:spPr>
          <a:xfrm>
            <a:off x="5020056" y="4434840"/>
            <a:ext cx="1280160" cy="420624"/>
          </a:xfrm>
          <a:prstGeom prst="roundRect">
            <a:avLst>
              <a:gd name="adj" fmla="val 8696"/>
            </a:avLst>
          </a:prstGeom>
          <a:solidFill>
            <a:srgbClr val="EDE7F6"/>
          </a:solidFill>
          <a:ln w="12700">
            <a:solidFill>
              <a:srgbClr val="E5E7EB"/>
            </a:solidFill>
            <a:prstDash val="solid"/>
          </a:ln>
        </p:spPr>
      </p:sp>
      <p:sp>
        <p:nvSpPr>
          <p:cNvPr id="95" name="Text 93"/>
          <p:cNvSpPr/>
          <p:nvPr/>
        </p:nvSpPr>
        <p:spPr>
          <a:xfrm>
            <a:off x="5020056" y="4434840"/>
            <a:ext cx="1280160" cy="420624"/>
          </a:xfrm>
          <a:prstGeom prst="rect">
            <a:avLst/>
          </a:prstGeom>
          <a:noFill/>
          <a:ln/>
        </p:spPr>
        <p:txBody>
          <a:bodyPr wrap="square" lIns="0" tIns="0" rIns="0" bIns="0" rtlCol="0" anchor="ctr"/>
          <a:lstStyle/>
          <a:p>
            <a:pPr algn="ctr" indent="0" marL="0">
              <a:buNone/>
            </a:pPr>
            <a:r>
              <a:rPr lang="en-US" sz="1300" b="1" dirty="0">
                <a:solidFill>
                  <a:srgbClr val="7B2D8B"/>
                </a:solidFill>
                <a:latin typeface="Calibri" pitchFamily="34" charset="0"/>
                <a:ea typeface="Calibri" pitchFamily="34" charset="-122"/>
                <a:cs typeface="Calibri" pitchFamily="34" charset="-120"/>
              </a:rPr>
              <a:t>✓</a:t>
            </a:r>
            <a:endParaRPr lang="en-US" sz="1300" dirty="0"/>
          </a:p>
        </p:txBody>
      </p:sp>
      <p:sp>
        <p:nvSpPr>
          <p:cNvPr id="96" name="Shape 94"/>
          <p:cNvSpPr/>
          <p:nvPr/>
        </p:nvSpPr>
        <p:spPr>
          <a:xfrm>
            <a:off x="6373368" y="4434840"/>
            <a:ext cx="1325880" cy="420624"/>
          </a:xfrm>
          <a:prstGeom prst="roundRect">
            <a:avLst>
              <a:gd name="adj" fmla="val 8696"/>
            </a:avLst>
          </a:prstGeom>
          <a:solidFill>
            <a:srgbClr val="EDE7F6"/>
          </a:solidFill>
          <a:ln w="12700">
            <a:solidFill>
              <a:srgbClr val="E5E7EB"/>
            </a:solidFill>
            <a:prstDash val="solid"/>
          </a:ln>
        </p:spPr>
      </p:sp>
      <p:sp>
        <p:nvSpPr>
          <p:cNvPr id="97" name="Text 95"/>
          <p:cNvSpPr/>
          <p:nvPr/>
        </p:nvSpPr>
        <p:spPr>
          <a:xfrm>
            <a:off x="6373368" y="4434840"/>
            <a:ext cx="1325880" cy="420624"/>
          </a:xfrm>
          <a:prstGeom prst="rect">
            <a:avLst/>
          </a:prstGeom>
          <a:noFill/>
          <a:ln/>
        </p:spPr>
        <p:txBody>
          <a:bodyPr wrap="square" lIns="0" tIns="0" rIns="0" bIns="0" rtlCol="0" anchor="ctr"/>
          <a:lstStyle/>
          <a:p>
            <a:pPr algn="ctr" indent="0" marL="0">
              <a:buNone/>
            </a:pPr>
            <a:r>
              <a:rPr lang="en-US" sz="1300" b="1" dirty="0">
                <a:solidFill>
                  <a:srgbClr val="7B2D8B"/>
                </a:solidFill>
                <a:latin typeface="Calibri" pitchFamily="34" charset="0"/>
                <a:ea typeface="Calibri" pitchFamily="34" charset="-122"/>
                <a:cs typeface="Calibri" pitchFamily="34" charset="-120"/>
              </a:rPr>
              <a:t>✓</a:t>
            </a:r>
            <a:endParaRPr lang="en-US" sz="1300" dirty="0"/>
          </a:p>
        </p:txBody>
      </p:sp>
      <p:sp>
        <p:nvSpPr>
          <p:cNvPr id="98" name="Shape 96"/>
          <p:cNvSpPr/>
          <p:nvPr/>
        </p:nvSpPr>
        <p:spPr>
          <a:xfrm>
            <a:off x="7772400" y="4434840"/>
            <a:ext cx="1325880" cy="420624"/>
          </a:xfrm>
          <a:prstGeom prst="roundRect">
            <a:avLst>
              <a:gd name="adj" fmla="val 8696"/>
            </a:avLst>
          </a:prstGeom>
          <a:solidFill>
            <a:srgbClr val="EDE7F6"/>
          </a:solidFill>
          <a:ln w="12700">
            <a:solidFill>
              <a:srgbClr val="E5E7EB"/>
            </a:solidFill>
            <a:prstDash val="solid"/>
          </a:ln>
        </p:spPr>
      </p:sp>
      <p:sp>
        <p:nvSpPr>
          <p:cNvPr id="99" name="Text 97"/>
          <p:cNvSpPr/>
          <p:nvPr/>
        </p:nvSpPr>
        <p:spPr>
          <a:xfrm>
            <a:off x="7772400" y="4434840"/>
            <a:ext cx="1325880" cy="420624"/>
          </a:xfrm>
          <a:prstGeom prst="rect">
            <a:avLst/>
          </a:prstGeom>
          <a:noFill/>
          <a:ln/>
        </p:spPr>
        <p:txBody>
          <a:bodyPr wrap="square" lIns="0" tIns="0" rIns="0" bIns="0" rtlCol="0" anchor="ctr"/>
          <a:lstStyle/>
          <a:p>
            <a:pPr algn="ctr" indent="0" marL="0">
              <a:buNone/>
            </a:pPr>
            <a:r>
              <a:rPr lang="en-US" sz="1300" b="1" dirty="0">
                <a:solidFill>
                  <a:srgbClr val="7B2D8B"/>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7B2D8B">
              <a:alpha val="18000"/>
            </a:srgbClr>
          </a:solidFill>
          <a:ln w="12700">
            <a:solidFill>
              <a:srgbClr val="7B2D8B">
                <a:alpha val="18000"/>
              </a:srgbClr>
            </a:solidFill>
            <a:prstDash val="solid"/>
          </a:ln>
        </p:spPr>
      </p:sp>
      <p:sp>
        <p:nvSpPr>
          <p:cNvPr id="3" name="Text 1"/>
          <p:cNvSpPr/>
          <p:nvPr/>
        </p:nvSpPr>
        <p:spPr>
          <a:xfrm>
            <a:off x="365760" y="182880"/>
            <a:ext cx="841248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Testing, Timeline &amp; Budget</a:t>
            </a:r>
            <a:endParaRPr lang="en-US" sz="2600" dirty="0"/>
          </a:p>
        </p:txBody>
      </p:sp>
      <p:sp>
        <p:nvSpPr>
          <p:cNvPr id="4" name="Shape 2"/>
          <p:cNvSpPr/>
          <p:nvPr/>
        </p:nvSpPr>
        <p:spPr>
          <a:xfrm>
            <a:off x="320040" y="96012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5" name="Text 3"/>
          <p:cNvSpPr/>
          <p:nvPr/>
        </p:nvSpPr>
        <p:spPr>
          <a:xfrm>
            <a:off x="411480" y="96012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Unit Testing</a:t>
            </a:r>
            <a:endParaRPr lang="en-US" sz="1100" dirty="0"/>
          </a:p>
        </p:txBody>
      </p:sp>
      <p:sp>
        <p:nvSpPr>
          <p:cNvPr id="6" name="Text 4"/>
          <p:cNvSpPr/>
          <p:nvPr/>
        </p:nvSpPr>
        <p:spPr>
          <a:xfrm>
            <a:off x="2331720" y="96012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Individual modules tested in isolation</a:t>
            </a:r>
            <a:endParaRPr lang="en-US" sz="1000" dirty="0"/>
          </a:p>
        </p:txBody>
      </p:sp>
      <p:sp>
        <p:nvSpPr>
          <p:cNvPr id="7" name="Shape 5"/>
          <p:cNvSpPr/>
          <p:nvPr/>
        </p:nvSpPr>
        <p:spPr>
          <a:xfrm>
            <a:off x="320040" y="160020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8" name="Text 6"/>
          <p:cNvSpPr/>
          <p:nvPr/>
        </p:nvSpPr>
        <p:spPr>
          <a:xfrm>
            <a:off x="411480" y="160020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Integration Testing</a:t>
            </a:r>
            <a:endParaRPr lang="en-US" sz="1100" dirty="0"/>
          </a:p>
        </p:txBody>
      </p:sp>
      <p:sp>
        <p:nvSpPr>
          <p:cNvPr id="9" name="Text 7"/>
          <p:cNvSpPr/>
          <p:nvPr/>
        </p:nvSpPr>
        <p:spPr>
          <a:xfrm>
            <a:off x="2331720" y="160020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Frontend ↔ Backend ↔ DB ↔ Gemini API</a:t>
            </a:r>
            <a:endParaRPr lang="en-US" sz="1000" dirty="0"/>
          </a:p>
        </p:txBody>
      </p:sp>
      <p:sp>
        <p:nvSpPr>
          <p:cNvPr id="10" name="Shape 8"/>
          <p:cNvSpPr/>
          <p:nvPr/>
        </p:nvSpPr>
        <p:spPr>
          <a:xfrm>
            <a:off x="320040" y="224028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11" name="Text 9"/>
          <p:cNvSpPr/>
          <p:nvPr/>
        </p:nvSpPr>
        <p:spPr>
          <a:xfrm>
            <a:off x="411480" y="224028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System Testing</a:t>
            </a:r>
            <a:endParaRPr lang="en-US" sz="1100" dirty="0"/>
          </a:p>
        </p:txBody>
      </p:sp>
      <p:sp>
        <p:nvSpPr>
          <p:cNvPr id="12" name="Text 10"/>
          <p:cNvSpPr/>
          <p:nvPr/>
        </p:nvSpPr>
        <p:spPr>
          <a:xfrm>
            <a:off x="2331720" y="224028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Full integrated system end-to-end</a:t>
            </a:r>
            <a:endParaRPr lang="en-US" sz="1000" dirty="0"/>
          </a:p>
        </p:txBody>
      </p:sp>
      <p:sp>
        <p:nvSpPr>
          <p:cNvPr id="13" name="Shape 11"/>
          <p:cNvSpPr/>
          <p:nvPr/>
        </p:nvSpPr>
        <p:spPr>
          <a:xfrm>
            <a:off x="320040" y="288036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14" name="Text 12"/>
          <p:cNvSpPr/>
          <p:nvPr/>
        </p:nvSpPr>
        <p:spPr>
          <a:xfrm>
            <a:off x="411480" y="288036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Performance Testing</a:t>
            </a:r>
            <a:endParaRPr lang="en-US" sz="1100" dirty="0"/>
          </a:p>
        </p:txBody>
      </p:sp>
      <p:sp>
        <p:nvSpPr>
          <p:cNvPr id="15" name="Text 13"/>
          <p:cNvSpPr/>
          <p:nvPr/>
        </p:nvSpPr>
        <p:spPr>
          <a:xfrm>
            <a:off x="2331720" y="288036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API response time, responsiveness</a:t>
            </a:r>
            <a:endParaRPr lang="en-US" sz="1000" dirty="0"/>
          </a:p>
        </p:txBody>
      </p:sp>
      <p:sp>
        <p:nvSpPr>
          <p:cNvPr id="16" name="Shape 14"/>
          <p:cNvSpPr/>
          <p:nvPr/>
        </p:nvSpPr>
        <p:spPr>
          <a:xfrm>
            <a:off x="320040" y="352044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17" name="Text 15"/>
          <p:cNvSpPr/>
          <p:nvPr/>
        </p:nvSpPr>
        <p:spPr>
          <a:xfrm>
            <a:off x="411480" y="352044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Security Testing</a:t>
            </a:r>
            <a:endParaRPr lang="en-US" sz="1100" dirty="0"/>
          </a:p>
        </p:txBody>
      </p:sp>
      <p:sp>
        <p:nvSpPr>
          <p:cNvPr id="18" name="Text 16"/>
          <p:cNvSpPr/>
          <p:nvPr/>
        </p:nvSpPr>
        <p:spPr>
          <a:xfrm>
            <a:off x="2331720" y="352044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JWT auth, data protection, API security</a:t>
            </a:r>
            <a:endParaRPr lang="en-US" sz="1000" dirty="0"/>
          </a:p>
        </p:txBody>
      </p:sp>
      <p:sp>
        <p:nvSpPr>
          <p:cNvPr id="19" name="Shape 17"/>
          <p:cNvSpPr/>
          <p:nvPr/>
        </p:nvSpPr>
        <p:spPr>
          <a:xfrm>
            <a:off x="320040" y="4160520"/>
            <a:ext cx="4114800" cy="566928"/>
          </a:xfrm>
          <a:prstGeom prst="roundRect">
            <a:avLst>
              <a:gd name="adj" fmla="val 16129"/>
            </a:avLst>
          </a:prstGeom>
          <a:solidFill>
            <a:srgbClr val="1A1A2E"/>
          </a:solidFill>
          <a:ln w="12700">
            <a:solidFill>
              <a:srgbClr val="3D1A5C"/>
            </a:solidFill>
            <a:prstDash val="solid"/>
          </a:ln>
          <a:effectLst>
            <a:outerShdw sx="100000" sy="100000" kx="0" ky="0" algn="bl" rotWithShape="0" blurRad="50800" dist="25400" dir="2700000">
              <a:srgbClr val="000000">
                <a:alpha val="20000"/>
              </a:srgbClr>
            </a:outerShdw>
          </a:effectLst>
        </p:spPr>
      </p:sp>
      <p:sp>
        <p:nvSpPr>
          <p:cNvPr id="20" name="Text 18"/>
          <p:cNvSpPr/>
          <p:nvPr/>
        </p:nvSpPr>
        <p:spPr>
          <a:xfrm>
            <a:off x="411480" y="4160520"/>
            <a:ext cx="1920240" cy="56692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User Acceptance</a:t>
            </a:r>
            <a:endParaRPr lang="en-US" sz="1100" dirty="0"/>
          </a:p>
        </p:txBody>
      </p:sp>
      <p:sp>
        <p:nvSpPr>
          <p:cNvPr id="21" name="Text 19"/>
          <p:cNvSpPr/>
          <p:nvPr/>
        </p:nvSpPr>
        <p:spPr>
          <a:xfrm>
            <a:off x="2331720" y="4160520"/>
            <a:ext cx="2011680" cy="566928"/>
          </a:xfrm>
          <a:prstGeom prst="rect">
            <a:avLst/>
          </a:prstGeom>
          <a:noFill/>
          <a:ln/>
        </p:spPr>
        <p:txBody>
          <a:bodyPr wrap="square" lIns="0" tIns="0" rIns="0" bIns="0" rtlCol="0" anchor="ctr"/>
          <a:lstStyle/>
          <a:p>
            <a:pPr indent="0" marL="0">
              <a:buNone/>
            </a:pPr>
            <a:r>
              <a:rPr lang="en-US" sz="1000" dirty="0">
                <a:solidFill>
                  <a:srgbClr val="C4B5FD"/>
                </a:solidFill>
                <a:latin typeface="Calibri" pitchFamily="34" charset="0"/>
                <a:ea typeface="Calibri" pitchFamily="34" charset="-122"/>
                <a:cs typeface="Calibri" pitchFamily="34" charset="-120"/>
              </a:rPr>
              <a:t>Real users evaluate usability &amp; features</a:t>
            </a:r>
            <a:endParaRPr lang="en-US" sz="1000" dirty="0"/>
          </a:p>
        </p:txBody>
      </p:sp>
      <p:sp>
        <p:nvSpPr>
          <p:cNvPr id="22" name="Shape 20"/>
          <p:cNvSpPr/>
          <p:nvPr/>
        </p:nvSpPr>
        <p:spPr>
          <a:xfrm>
            <a:off x="4663440" y="960120"/>
            <a:ext cx="4160520" cy="3063240"/>
          </a:xfrm>
          <a:prstGeom prst="roundRect">
            <a:avLst>
              <a:gd name="adj" fmla="val 4478"/>
            </a:avLst>
          </a:prstGeom>
          <a:solidFill>
            <a:srgbClr val="1A1A2E"/>
          </a:solidFill>
          <a:ln w="12700">
            <a:solidFill>
              <a:srgbClr val="3D1A5C"/>
            </a:solidFill>
            <a:prstDash val="solid"/>
          </a:ln>
          <a:effectLst>
            <a:outerShdw sx="100000" sy="100000" kx="0" ky="0" algn="bl" rotWithShape="0" blurRad="101600" dist="38100" dir="2700000">
              <a:srgbClr val="000000">
                <a:alpha val="18000"/>
              </a:srgbClr>
            </a:outerShdw>
          </a:effectLst>
        </p:spPr>
      </p:sp>
      <p:sp>
        <p:nvSpPr>
          <p:cNvPr id="23" name="Text 21"/>
          <p:cNvSpPr/>
          <p:nvPr/>
        </p:nvSpPr>
        <p:spPr>
          <a:xfrm>
            <a:off x="4754880" y="1005840"/>
            <a:ext cx="3977640" cy="457200"/>
          </a:xfrm>
          <a:prstGeom prst="rect">
            <a:avLst/>
          </a:prstGeom>
          <a:noFill/>
          <a:ln/>
        </p:spPr>
        <p:txBody>
          <a:bodyPr wrap="square" lIns="0" tIns="0" rIns="0" bIns="0" rtlCol="0" anchor="ctr"/>
          <a:lstStyle/>
          <a:p>
            <a:pPr algn="ctr" indent="0" marL="0">
              <a:buNone/>
            </a:pPr>
            <a:r>
              <a:rPr lang="en-US" sz="1400" b="1" dirty="0">
                <a:solidFill>
                  <a:srgbClr val="F59E0B"/>
                </a:solidFill>
                <a:latin typeface="Cambria" pitchFamily="34" charset="0"/>
                <a:ea typeface="Cambria" pitchFamily="34" charset="-122"/>
                <a:cs typeface="Cambria" pitchFamily="34" charset="-120"/>
              </a:rPr>
              <a:t>⏱  9-Week Timeline</a:t>
            </a:r>
            <a:endParaRPr lang="en-US" sz="1400" dirty="0"/>
          </a:p>
        </p:txBody>
      </p:sp>
      <p:sp>
        <p:nvSpPr>
          <p:cNvPr id="24" name="Text 22"/>
          <p:cNvSpPr/>
          <p:nvPr/>
        </p:nvSpPr>
        <p:spPr>
          <a:xfrm>
            <a:off x="4800600" y="1554480"/>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W1-2: Requirements &amp; System Design</a:t>
            </a:r>
            <a:endParaRPr lang="en-US" sz="1000" dirty="0"/>
          </a:p>
        </p:txBody>
      </p:sp>
      <p:sp>
        <p:nvSpPr>
          <p:cNvPr id="25" name="Text 23"/>
          <p:cNvSpPr/>
          <p:nvPr/>
        </p:nvSpPr>
        <p:spPr>
          <a:xfrm>
            <a:off x="4800600" y="1856232"/>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W2-3: UI/UX Design (Figma)</a:t>
            </a:r>
            <a:endParaRPr lang="en-US" sz="1000" dirty="0"/>
          </a:p>
        </p:txBody>
      </p:sp>
      <p:sp>
        <p:nvSpPr>
          <p:cNvPr id="26" name="Text 24"/>
          <p:cNvSpPr/>
          <p:nvPr/>
        </p:nvSpPr>
        <p:spPr>
          <a:xfrm>
            <a:off x="4800600" y="2157984"/>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W3-5: React Native Mobile App</a:t>
            </a:r>
            <a:endParaRPr lang="en-US" sz="1000" dirty="0"/>
          </a:p>
        </p:txBody>
      </p:sp>
      <p:sp>
        <p:nvSpPr>
          <p:cNvPr id="27" name="Text 25"/>
          <p:cNvSpPr/>
          <p:nvPr/>
        </p:nvSpPr>
        <p:spPr>
          <a:xfrm>
            <a:off x="4800600" y="2459736"/>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W4-5: FastAPI Backend Development</a:t>
            </a:r>
            <a:endParaRPr lang="en-US" sz="1000" dirty="0"/>
          </a:p>
        </p:txBody>
      </p:sp>
      <p:sp>
        <p:nvSpPr>
          <p:cNvPr id="28" name="Text 26"/>
          <p:cNvSpPr/>
          <p:nvPr/>
        </p:nvSpPr>
        <p:spPr>
          <a:xfrm>
            <a:off x="4800600" y="2761488"/>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W4-5: Database Design &amp; Integration</a:t>
            </a:r>
            <a:endParaRPr lang="en-US" sz="1000" dirty="0"/>
          </a:p>
        </p:txBody>
      </p:sp>
      <p:sp>
        <p:nvSpPr>
          <p:cNvPr id="29" name="Text 27"/>
          <p:cNvSpPr/>
          <p:nvPr/>
        </p:nvSpPr>
        <p:spPr>
          <a:xfrm>
            <a:off x="4800600" y="3063240"/>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W5:    Gemini API Integration</a:t>
            </a:r>
            <a:endParaRPr lang="en-US" sz="1000" dirty="0"/>
          </a:p>
        </p:txBody>
      </p:sp>
      <p:sp>
        <p:nvSpPr>
          <p:cNvPr id="30" name="Text 28"/>
          <p:cNvSpPr/>
          <p:nvPr/>
        </p:nvSpPr>
        <p:spPr>
          <a:xfrm>
            <a:off x="4800600" y="3364992"/>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W6-7: SOS &amp; Location Module</a:t>
            </a:r>
            <a:endParaRPr lang="en-US" sz="1000" dirty="0"/>
          </a:p>
        </p:txBody>
      </p:sp>
      <p:sp>
        <p:nvSpPr>
          <p:cNvPr id="31" name="Text 29"/>
          <p:cNvSpPr/>
          <p:nvPr/>
        </p:nvSpPr>
        <p:spPr>
          <a:xfrm>
            <a:off x="4800600" y="3666744"/>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W7:    Testing &amp; Debugging</a:t>
            </a:r>
            <a:endParaRPr lang="en-US" sz="1000" dirty="0"/>
          </a:p>
        </p:txBody>
      </p:sp>
      <p:sp>
        <p:nvSpPr>
          <p:cNvPr id="32" name="Text 30"/>
          <p:cNvSpPr/>
          <p:nvPr/>
        </p:nvSpPr>
        <p:spPr>
          <a:xfrm>
            <a:off x="4800600" y="3968496"/>
            <a:ext cx="3931920" cy="292608"/>
          </a:xfrm>
          <a:prstGeom prst="rect">
            <a:avLst/>
          </a:prstGeom>
          <a:noFill/>
          <a:ln/>
        </p:spPr>
        <p:txBody>
          <a:bodyPr wrap="square" lIns="0" tIns="0" rIns="0" bIns="0" rtlCol="0" anchor="ctr"/>
          <a:lstStyle/>
          <a:p>
            <a:pPr indent="0" marL="0">
              <a:buNone/>
            </a:pPr>
            <a:r>
              <a:rPr lang="en-US" sz="1000" dirty="0">
                <a:solidFill>
                  <a:srgbClr val="D8B4FE"/>
                </a:solidFill>
                <a:latin typeface="Calibri" pitchFamily="34" charset="0"/>
                <a:ea typeface="Calibri" pitchFamily="34" charset="-122"/>
                <a:cs typeface="Calibri" pitchFamily="34" charset="-120"/>
              </a:rPr>
              <a:t>›  W8-9: Documentation &amp; Final Review</a:t>
            </a:r>
            <a:endParaRPr lang="en-US" sz="1000" dirty="0"/>
          </a:p>
        </p:txBody>
      </p:sp>
      <p:sp>
        <p:nvSpPr>
          <p:cNvPr id="33" name="Shape 31"/>
          <p:cNvSpPr/>
          <p:nvPr/>
        </p:nvSpPr>
        <p:spPr>
          <a:xfrm>
            <a:off x="4663440" y="4160520"/>
            <a:ext cx="4160520" cy="713232"/>
          </a:xfrm>
          <a:prstGeom prst="roundRect">
            <a:avLst>
              <a:gd name="adj" fmla="val 15385"/>
            </a:avLst>
          </a:prstGeom>
          <a:solidFill>
            <a:srgbClr val="059669">
              <a:alpha val="20000"/>
            </a:srgbClr>
          </a:solidFill>
          <a:ln w="12700">
            <a:solidFill>
              <a:srgbClr val="059669">
                <a:alpha val="50000"/>
              </a:srgbClr>
            </a:solidFill>
            <a:prstDash val="solid"/>
          </a:ln>
        </p:spPr>
      </p:sp>
      <p:sp>
        <p:nvSpPr>
          <p:cNvPr id="34" name="Text 32"/>
          <p:cNvSpPr/>
          <p:nvPr/>
        </p:nvSpPr>
        <p:spPr>
          <a:xfrm>
            <a:off x="4754880" y="4160520"/>
            <a:ext cx="3977640" cy="713232"/>
          </a:xfrm>
          <a:prstGeom prst="rect">
            <a:avLst/>
          </a:prstGeom>
          <a:noFill/>
          <a:ln/>
        </p:spPr>
        <p:txBody>
          <a:bodyPr wrap="square" lIns="0" tIns="0" rIns="0" bIns="0" rtlCol="0" anchor="ctr"/>
          <a:lstStyle/>
          <a:p>
            <a:pPr algn="ctr" indent="0" marL="0">
              <a:buNone/>
            </a:pPr>
            <a:r>
              <a:rPr lang="en-US" sz="1100" b="1" dirty="0">
                <a:solidFill>
                  <a:srgbClr val="D1FAE5"/>
                </a:solidFill>
                <a:latin typeface="Calibri" pitchFamily="34" charset="0"/>
                <a:ea typeface="Calibri" pitchFamily="34" charset="-122"/>
                <a:cs typeface="Calibri" pitchFamily="34" charset="-120"/>
              </a:rPr>
              <a:t>💰  Total Estimated Budget: NPR 3,200  (mostly open-source tools)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914400" y="-1371600"/>
            <a:ext cx="5486400" cy="5486400"/>
          </a:xfrm>
          <a:prstGeom prst="ellipse">
            <a:avLst/>
          </a:prstGeom>
          <a:solidFill>
            <a:srgbClr val="7B2D8B">
              <a:alpha val="18000"/>
            </a:srgbClr>
          </a:solidFill>
          <a:ln w="12700">
            <a:solidFill>
              <a:srgbClr val="7B2D8B">
                <a:alpha val="18000"/>
              </a:srgbClr>
            </a:solidFill>
            <a:prstDash val="solid"/>
          </a:ln>
        </p:spPr>
      </p:sp>
      <p:sp>
        <p:nvSpPr>
          <p:cNvPr id="3" name="Shape 1"/>
          <p:cNvSpPr/>
          <p:nvPr/>
        </p:nvSpPr>
        <p:spPr>
          <a:xfrm>
            <a:off x="5943600" y="2286000"/>
            <a:ext cx="4572000" cy="4572000"/>
          </a:xfrm>
          <a:prstGeom prst="ellipse">
            <a:avLst/>
          </a:prstGeom>
          <a:solidFill>
            <a:srgbClr val="C2185B">
              <a:alpha val="12000"/>
            </a:srgbClr>
          </a:solidFill>
          <a:ln w="12700">
            <a:solidFill>
              <a:srgbClr val="C2185B">
                <a:alpha val="12000"/>
              </a:srgbClr>
            </a:solidFill>
            <a:prstDash val="solid"/>
          </a:ln>
        </p:spPr>
      </p:sp>
      <p:sp>
        <p:nvSpPr>
          <p:cNvPr id="4" name="Text 2"/>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The Bigger Picture</a:t>
            </a:r>
            <a:endParaRPr lang="en-US" sz="3200" dirty="0"/>
          </a:p>
        </p:txBody>
      </p:sp>
      <p:sp>
        <p:nvSpPr>
          <p:cNvPr id="5" name="Shape 3"/>
          <p:cNvSpPr/>
          <p:nvPr/>
        </p:nvSpPr>
        <p:spPr>
          <a:xfrm>
            <a:off x="731520" y="1005840"/>
            <a:ext cx="7680960" cy="1188720"/>
          </a:xfrm>
          <a:prstGeom prst="roundRect">
            <a:avLst>
              <a:gd name="adj" fmla="val 15385"/>
            </a:avLst>
          </a:prstGeom>
          <a:solidFill>
            <a:srgbClr val="7B2D8B">
              <a:alpha val="50000"/>
            </a:srgbClr>
          </a:solidFill>
          <a:ln w="12700">
            <a:solidFill>
              <a:srgbClr val="F8BBD9">
                <a:alpha val="60000"/>
              </a:srgbClr>
            </a:solidFill>
            <a:prstDash val="solid"/>
          </a:ln>
        </p:spPr>
      </p:sp>
      <p:sp>
        <p:nvSpPr>
          <p:cNvPr id="6" name="Text 4"/>
          <p:cNvSpPr/>
          <p:nvPr/>
        </p:nvSpPr>
        <p:spPr>
          <a:xfrm>
            <a:off x="822960" y="1005840"/>
            <a:ext cx="7498080" cy="1188720"/>
          </a:xfrm>
          <a:prstGeom prst="rect">
            <a:avLst/>
          </a:prstGeom>
          <a:noFill/>
          <a:ln/>
        </p:spPr>
        <p:txBody>
          <a:bodyPr wrap="square" lIns="0" tIns="0" rIns="0" bIns="0" rtlCol="0" anchor="ctr"/>
          <a:lstStyle/>
          <a:p>
            <a:pPr algn="ctr" indent="0" marL="0">
              <a:buNone/>
            </a:pPr>
            <a:r>
              <a:rPr lang="en-US" sz="1800" b="1" i="1" dirty="0">
                <a:solidFill>
                  <a:srgbClr val="FFFFFF"/>
                </a:solidFill>
                <a:latin typeface="Cambria" pitchFamily="34" charset="0"/>
                <a:ea typeface="Cambria" pitchFamily="34" charset="-122"/>
                <a:cs typeface="Cambria" pitchFamily="34" charset="-120"/>
              </a:rPr>
              <a:t>" Even if we make life easier for just one person —</a:t>
            </a:r>
            <a:endParaRPr lang="en-US" sz="1800" dirty="0"/>
          </a:p>
          <a:p>
            <a:pPr algn="ctr" indent="0" marL="0">
              <a:buNone/>
            </a:pPr>
            <a:r>
              <a:rPr lang="en-US" sz="1800" b="1" i="1" dirty="0">
                <a:solidFill>
                  <a:srgbClr val="FFFFFF"/>
                </a:solidFill>
                <a:latin typeface="Cambria" pitchFamily="34" charset="0"/>
                <a:ea typeface="Cambria" pitchFamily="34" charset="-122"/>
                <a:cs typeface="Cambria" pitchFamily="34" charset="-120"/>
              </a:rPr>
              <a:t>that is a massive achievement. "</a:t>
            </a:r>
            <a:endParaRPr lang="en-US" sz="1800" dirty="0"/>
          </a:p>
        </p:txBody>
      </p:sp>
      <p:sp>
        <p:nvSpPr>
          <p:cNvPr id="7" name="Shape 5"/>
          <p:cNvSpPr/>
          <p:nvPr/>
        </p:nvSpPr>
        <p:spPr>
          <a:xfrm>
            <a:off x="365760" y="2423160"/>
            <a:ext cx="1965960" cy="2240280"/>
          </a:xfrm>
          <a:prstGeom prst="roundRect">
            <a:avLst>
              <a:gd name="adj" fmla="val 6977"/>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65760" y="2514600"/>
            <a:ext cx="196596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457200" y="3108960"/>
            <a:ext cx="1783080" cy="365760"/>
          </a:xfrm>
          <a:prstGeom prst="rect">
            <a:avLst/>
          </a:prstGeom>
          <a:noFill/>
          <a:ln/>
        </p:spPr>
        <p:txBody>
          <a:bodyPr wrap="square" lIns="0" tIns="0" rIns="0" bIns="0" rtlCol="0" anchor="ctr"/>
          <a:lstStyle/>
          <a:p>
            <a:pPr algn="ctr" indent="0" marL="0">
              <a:buNone/>
            </a:pPr>
            <a:r>
              <a:rPr lang="en-US" sz="1300" b="1" dirty="0">
                <a:solidFill>
                  <a:srgbClr val="F59E0B"/>
                </a:solidFill>
                <a:latin typeface="Cambria" pitchFamily="34" charset="0"/>
                <a:ea typeface="Cambria" pitchFamily="34" charset="-122"/>
                <a:cs typeface="Cambria" pitchFamily="34" charset="-120"/>
              </a:rPr>
              <a:t>Health</a:t>
            </a:r>
            <a:endParaRPr lang="en-US" sz="1300" dirty="0"/>
          </a:p>
        </p:txBody>
      </p:sp>
      <p:sp>
        <p:nvSpPr>
          <p:cNvPr id="10" name="Text 8"/>
          <p:cNvSpPr/>
          <p:nvPr/>
        </p:nvSpPr>
        <p:spPr>
          <a:xfrm>
            <a:off x="457200" y="3493008"/>
            <a:ext cx="1783080" cy="1078992"/>
          </a:xfrm>
          <a:prstGeom prst="rect">
            <a:avLst/>
          </a:prstGeom>
          <a:noFill/>
          <a:ln/>
        </p:spPr>
        <p:txBody>
          <a:bodyPr wrap="square" lIns="0" tIns="0" rIns="0" bIns="0" rtlCol="0" anchor="ctr"/>
          <a:lstStyle/>
          <a:p>
            <a:pPr algn="ctr" indent="0" marL="0">
              <a:buNone/>
            </a:pPr>
            <a:r>
              <a:rPr lang="en-US" sz="1050" dirty="0">
                <a:solidFill>
                  <a:srgbClr val="D8B4FE"/>
                </a:solidFill>
                <a:latin typeface="Calibri" pitchFamily="34" charset="0"/>
                <a:ea typeface="Calibri" pitchFamily="34" charset="-122"/>
                <a:cs typeface="Calibri" pitchFamily="34" charset="-120"/>
              </a:rPr>
              <a:t>Women understand &amp; manage their reproductive health proactively</a:t>
            </a:r>
            <a:endParaRPr lang="en-US" sz="1050" dirty="0"/>
          </a:p>
        </p:txBody>
      </p:sp>
      <p:sp>
        <p:nvSpPr>
          <p:cNvPr id="11" name="Shape 9"/>
          <p:cNvSpPr/>
          <p:nvPr/>
        </p:nvSpPr>
        <p:spPr>
          <a:xfrm>
            <a:off x="2514600" y="2423160"/>
            <a:ext cx="1965960" cy="2240280"/>
          </a:xfrm>
          <a:prstGeom prst="roundRect">
            <a:avLst>
              <a:gd name="adj" fmla="val 6977"/>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2514600" y="2514600"/>
            <a:ext cx="196596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2606040" y="3108960"/>
            <a:ext cx="1783080" cy="365760"/>
          </a:xfrm>
          <a:prstGeom prst="rect">
            <a:avLst/>
          </a:prstGeom>
          <a:noFill/>
          <a:ln/>
        </p:spPr>
        <p:txBody>
          <a:bodyPr wrap="square" lIns="0" tIns="0" rIns="0" bIns="0" rtlCol="0" anchor="ctr"/>
          <a:lstStyle/>
          <a:p>
            <a:pPr algn="ctr" indent="0" marL="0">
              <a:buNone/>
            </a:pPr>
            <a:r>
              <a:rPr lang="en-US" sz="1300" b="1" dirty="0">
                <a:solidFill>
                  <a:srgbClr val="F59E0B"/>
                </a:solidFill>
                <a:latin typeface="Cambria" pitchFamily="34" charset="0"/>
                <a:ea typeface="Cambria" pitchFamily="34" charset="-122"/>
                <a:cs typeface="Cambria" pitchFamily="34" charset="-120"/>
              </a:rPr>
              <a:t>Wellness</a:t>
            </a:r>
            <a:endParaRPr lang="en-US" sz="1300" dirty="0"/>
          </a:p>
        </p:txBody>
      </p:sp>
      <p:sp>
        <p:nvSpPr>
          <p:cNvPr id="14" name="Text 12"/>
          <p:cNvSpPr/>
          <p:nvPr/>
        </p:nvSpPr>
        <p:spPr>
          <a:xfrm>
            <a:off x="2606040" y="3493008"/>
            <a:ext cx="1783080" cy="1078992"/>
          </a:xfrm>
          <a:prstGeom prst="rect">
            <a:avLst/>
          </a:prstGeom>
          <a:noFill/>
          <a:ln/>
        </p:spPr>
        <p:txBody>
          <a:bodyPr wrap="square" lIns="0" tIns="0" rIns="0" bIns="0" rtlCol="0" anchor="ctr"/>
          <a:lstStyle/>
          <a:p>
            <a:pPr algn="ctr" indent="0" marL="0">
              <a:buNone/>
            </a:pPr>
            <a:r>
              <a:rPr lang="en-US" sz="1050" dirty="0">
                <a:solidFill>
                  <a:srgbClr val="D8B4FE"/>
                </a:solidFill>
                <a:latin typeface="Calibri" pitchFamily="34" charset="0"/>
                <a:ea typeface="Calibri" pitchFamily="34" charset="-122"/>
                <a:cs typeface="Calibri" pitchFamily="34" charset="-120"/>
              </a:rPr>
              <a:t>Emotional patterns tracked, relief suggestions provided daily</a:t>
            </a:r>
            <a:endParaRPr lang="en-US" sz="1050" dirty="0"/>
          </a:p>
        </p:txBody>
      </p:sp>
      <p:sp>
        <p:nvSpPr>
          <p:cNvPr id="15" name="Shape 13"/>
          <p:cNvSpPr/>
          <p:nvPr/>
        </p:nvSpPr>
        <p:spPr>
          <a:xfrm>
            <a:off x="4663440" y="2423160"/>
            <a:ext cx="1965960" cy="2240280"/>
          </a:xfrm>
          <a:prstGeom prst="roundRect">
            <a:avLst>
              <a:gd name="adj" fmla="val 6977"/>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4663440" y="2514600"/>
            <a:ext cx="196596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4754880" y="3108960"/>
            <a:ext cx="1783080" cy="365760"/>
          </a:xfrm>
          <a:prstGeom prst="rect">
            <a:avLst/>
          </a:prstGeom>
          <a:noFill/>
          <a:ln/>
        </p:spPr>
        <p:txBody>
          <a:bodyPr wrap="square" lIns="0" tIns="0" rIns="0" bIns="0" rtlCol="0" anchor="ctr"/>
          <a:lstStyle/>
          <a:p>
            <a:pPr algn="ctr" indent="0" marL="0">
              <a:buNone/>
            </a:pPr>
            <a:r>
              <a:rPr lang="en-US" sz="1300" b="1" dirty="0">
                <a:solidFill>
                  <a:srgbClr val="F59E0B"/>
                </a:solidFill>
                <a:latin typeface="Cambria" pitchFamily="34" charset="0"/>
                <a:ea typeface="Cambria" pitchFamily="34" charset="-122"/>
                <a:cs typeface="Cambria" pitchFamily="34" charset="-120"/>
              </a:rPr>
              <a:t>Knowledge</a:t>
            </a:r>
            <a:endParaRPr lang="en-US" sz="1300" dirty="0"/>
          </a:p>
        </p:txBody>
      </p:sp>
      <p:sp>
        <p:nvSpPr>
          <p:cNvPr id="18" name="Text 16"/>
          <p:cNvSpPr/>
          <p:nvPr/>
        </p:nvSpPr>
        <p:spPr>
          <a:xfrm>
            <a:off x="4754880" y="3493008"/>
            <a:ext cx="1783080" cy="1078992"/>
          </a:xfrm>
          <a:prstGeom prst="rect">
            <a:avLst/>
          </a:prstGeom>
          <a:noFill/>
          <a:ln/>
        </p:spPr>
        <p:txBody>
          <a:bodyPr wrap="square" lIns="0" tIns="0" rIns="0" bIns="0" rtlCol="0" anchor="ctr"/>
          <a:lstStyle/>
          <a:p>
            <a:pPr algn="ctr" indent="0" marL="0">
              <a:buNone/>
            </a:pPr>
            <a:r>
              <a:rPr lang="en-US" sz="1050" dirty="0">
                <a:solidFill>
                  <a:srgbClr val="D8B4FE"/>
                </a:solidFill>
                <a:latin typeface="Calibri" pitchFamily="34" charset="0"/>
                <a:ea typeface="Calibri" pitchFamily="34" charset="-122"/>
                <a:cs typeface="Calibri" pitchFamily="34" charset="-120"/>
              </a:rPr>
              <a:t>Accurate, verified health education accessible in one place</a:t>
            </a:r>
            <a:endParaRPr lang="en-US" sz="1050" dirty="0"/>
          </a:p>
        </p:txBody>
      </p:sp>
      <p:sp>
        <p:nvSpPr>
          <p:cNvPr id="19" name="Shape 17"/>
          <p:cNvSpPr/>
          <p:nvPr/>
        </p:nvSpPr>
        <p:spPr>
          <a:xfrm>
            <a:off x="6812280" y="2423160"/>
            <a:ext cx="1965960" cy="2240280"/>
          </a:xfrm>
          <a:prstGeom prst="roundRect">
            <a:avLst>
              <a:gd name="adj" fmla="val 6977"/>
            </a:avLst>
          </a:prstGeom>
          <a:solidFill>
            <a:srgbClr val="1F1B2E"/>
          </a:solidFill>
          <a:ln w="12700">
            <a:solidFill>
              <a:srgbClr val="4A2055"/>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6812280" y="2514600"/>
            <a:ext cx="1965960" cy="5486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6903720" y="3108960"/>
            <a:ext cx="1783080" cy="365760"/>
          </a:xfrm>
          <a:prstGeom prst="rect">
            <a:avLst/>
          </a:prstGeom>
          <a:noFill/>
          <a:ln/>
        </p:spPr>
        <p:txBody>
          <a:bodyPr wrap="square" lIns="0" tIns="0" rIns="0" bIns="0" rtlCol="0" anchor="ctr"/>
          <a:lstStyle/>
          <a:p>
            <a:pPr algn="ctr" indent="0" marL="0">
              <a:buNone/>
            </a:pPr>
            <a:r>
              <a:rPr lang="en-US" sz="1300" b="1" dirty="0">
                <a:solidFill>
                  <a:srgbClr val="F59E0B"/>
                </a:solidFill>
                <a:latin typeface="Cambria" pitchFamily="34" charset="0"/>
                <a:ea typeface="Cambria" pitchFamily="34" charset="-122"/>
                <a:cs typeface="Cambria" pitchFamily="34" charset="-120"/>
              </a:rPr>
              <a:t>Safety</a:t>
            </a:r>
            <a:endParaRPr lang="en-US" sz="1300" dirty="0"/>
          </a:p>
        </p:txBody>
      </p:sp>
      <p:sp>
        <p:nvSpPr>
          <p:cNvPr id="22" name="Text 20"/>
          <p:cNvSpPr/>
          <p:nvPr/>
        </p:nvSpPr>
        <p:spPr>
          <a:xfrm>
            <a:off x="6903720" y="3493008"/>
            <a:ext cx="1783080" cy="1078992"/>
          </a:xfrm>
          <a:prstGeom prst="rect">
            <a:avLst/>
          </a:prstGeom>
          <a:noFill/>
          <a:ln/>
        </p:spPr>
        <p:txBody>
          <a:bodyPr wrap="square" lIns="0" tIns="0" rIns="0" bIns="0" rtlCol="0" anchor="ctr"/>
          <a:lstStyle/>
          <a:p>
            <a:pPr algn="ctr" indent="0" marL="0">
              <a:buNone/>
            </a:pPr>
            <a:r>
              <a:rPr lang="en-US" sz="1050" dirty="0">
                <a:solidFill>
                  <a:srgbClr val="D8B4FE"/>
                </a:solidFill>
                <a:latin typeface="Calibri" pitchFamily="34" charset="0"/>
                <a:ea typeface="Calibri" pitchFamily="34" charset="-122"/>
                <a:cs typeface="Calibri" pitchFamily="34" charset="-120"/>
              </a:rPr>
              <a:t>Instant emergency response when it matters most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2560320"/>
          </a:xfrm>
          <a:prstGeom prst="rect">
            <a:avLst/>
          </a:prstGeom>
          <a:solidFill>
            <a:srgbClr val="2D1B4E"/>
          </a:solidFill>
          <a:ln w="12700">
            <a:solidFill>
              <a:srgbClr val="2D1B4E"/>
            </a:solidFill>
            <a:prstDash val="solid"/>
          </a:ln>
        </p:spPr>
      </p:sp>
      <p:sp>
        <p:nvSpPr>
          <p:cNvPr id="3" name="Shape 1"/>
          <p:cNvSpPr/>
          <p:nvPr/>
        </p:nvSpPr>
        <p:spPr>
          <a:xfrm>
            <a:off x="5486400" y="-1371600"/>
            <a:ext cx="4572000" cy="4572000"/>
          </a:xfrm>
          <a:prstGeom prst="ellipse">
            <a:avLst/>
          </a:prstGeom>
          <a:solidFill>
            <a:srgbClr val="7B2D8B">
              <a:alpha val="20000"/>
            </a:srgbClr>
          </a:solidFill>
          <a:ln w="12700">
            <a:solidFill>
              <a:srgbClr val="7B2D8B">
                <a:alpha val="20000"/>
              </a:srgbClr>
            </a:solidFill>
            <a:prstDash val="solid"/>
          </a:ln>
        </p:spPr>
      </p:sp>
      <p:sp>
        <p:nvSpPr>
          <p:cNvPr id="4" name="Text 2"/>
          <p:cNvSpPr/>
          <p:nvPr/>
        </p:nvSpPr>
        <p:spPr>
          <a:xfrm>
            <a:off x="457200" y="320040"/>
            <a:ext cx="8229600"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457200" y="1389888"/>
            <a:ext cx="8229600" cy="502920"/>
          </a:xfrm>
          <a:prstGeom prst="rect">
            <a:avLst/>
          </a:prstGeom>
          <a:noFill/>
          <a:ln/>
        </p:spPr>
        <p:txBody>
          <a:bodyPr wrap="square" lIns="0" tIns="0" rIns="0" bIns="0" rtlCol="0" anchor="ctr"/>
          <a:lstStyle/>
          <a:p>
            <a:pPr algn="ctr" indent="0" marL="0">
              <a:buNone/>
            </a:pPr>
            <a:r>
              <a:rPr lang="en-US" sz="1600" i="1" dirty="0">
                <a:solidFill>
                  <a:srgbClr val="D8B4FE"/>
                </a:solidFill>
                <a:latin typeface="Calibri" pitchFamily="34" charset="0"/>
                <a:ea typeface="Calibri" pitchFamily="34" charset="-122"/>
                <a:cs typeface="Calibri" pitchFamily="34" charset="-120"/>
              </a:rPr>
              <a:t>We are happy to take your questions.</a:t>
            </a:r>
            <a:endParaRPr lang="en-US" sz="1600" dirty="0"/>
          </a:p>
        </p:txBody>
      </p:sp>
      <p:sp>
        <p:nvSpPr>
          <p:cNvPr id="6" name="Shape 4"/>
          <p:cNvSpPr/>
          <p:nvPr/>
        </p:nvSpPr>
        <p:spPr>
          <a:xfrm>
            <a:off x="777240" y="2743200"/>
            <a:ext cx="2331720" cy="1325880"/>
          </a:xfrm>
          <a:prstGeom prst="roundRect">
            <a:avLst>
              <a:gd name="adj" fmla="val 12414"/>
            </a:avLst>
          </a:prstGeom>
          <a:solidFill>
            <a:srgbClr val="EDE7F6"/>
          </a:solidFill>
          <a:ln w="12700">
            <a:solidFill>
              <a:srgbClr val="C4B5FD"/>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777240" y="2788920"/>
            <a:ext cx="23317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868680" y="3291840"/>
            <a:ext cx="2148840" cy="384048"/>
          </a:xfrm>
          <a:prstGeom prst="rect">
            <a:avLst/>
          </a:prstGeom>
          <a:noFill/>
          <a:ln/>
        </p:spPr>
        <p:txBody>
          <a:bodyPr wrap="square" lIns="0" tIns="0" rIns="0" bIns="0" rtlCol="0" anchor="ctr"/>
          <a:lstStyle/>
          <a:p>
            <a:pPr algn="ctr" indent="0" marL="0">
              <a:buNone/>
            </a:pPr>
            <a:r>
              <a:rPr lang="en-US" sz="1100" b="1" dirty="0">
                <a:solidFill>
                  <a:srgbClr val="2D1B4E"/>
                </a:solidFill>
                <a:latin typeface="Calibri" pitchFamily="34" charset="0"/>
                <a:ea typeface="Calibri" pitchFamily="34" charset="-122"/>
                <a:cs typeface="Calibri" pitchFamily="34" charset="-120"/>
              </a:rPr>
              <a:t>Saksham Bhujel</a:t>
            </a:r>
            <a:endParaRPr lang="en-US" sz="1100" dirty="0"/>
          </a:p>
        </p:txBody>
      </p:sp>
      <p:sp>
        <p:nvSpPr>
          <p:cNvPr id="9" name="Text 7"/>
          <p:cNvSpPr/>
          <p:nvPr/>
        </p:nvSpPr>
        <p:spPr>
          <a:xfrm>
            <a:off x="868680" y="3657600"/>
            <a:ext cx="2148840" cy="320040"/>
          </a:xfrm>
          <a:prstGeom prst="rect">
            <a:avLst/>
          </a:prstGeom>
          <a:noFill/>
          <a:ln/>
        </p:spPr>
        <p:txBody>
          <a:bodyPr wrap="square" lIns="0" tIns="0" rIns="0" bIns="0" rtlCol="0" anchor="ctr"/>
          <a:lstStyle/>
          <a:p>
            <a:pPr algn="ctr" indent="0" marL="0">
              <a:buNone/>
            </a:pPr>
            <a:r>
              <a:rPr lang="en-US" sz="1000" dirty="0">
                <a:solidFill>
                  <a:srgbClr val="7B2D8B"/>
                </a:solidFill>
                <a:latin typeface="Calibri" pitchFamily="34" charset="0"/>
                <a:ea typeface="Calibri" pitchFamily="34" charset="-122"/>
                <a:cs typeface="Calibri" pitchFamily="34" charset="-120"/>
              </a:rPr>
              <a:t>ACE080BCT063</a:t>
            </a:r>
            <a:endParaRPr lang="en-US" sz="1000" dirty="0"/>
          </a:p>
        </p:txBody>
      </p:sp>
      <p:sp>
        <p:nvSpPr>
          <p:cNvPr id="10" name="Shape 8"/>
          <p:cNvSpPr/>
          <p:nvPr/>
        </p:nvSpPr>
        <p:spPr>
          <a:xfrm>
            <a:off x="3383280" y="2743200"/>
            <a:ext cx="2331720" cy="1325880"/>
          </a:xfrm>
          <a:prstGeom prst="roundRect">
            <a:avLst>
              <a:gd name="adj" fmla="val 12414"/>
            </a:avLst>
          </a:prstGeom>
          <a:solidFill>
            <a:srgbClr val="EDE7F6"/>
          </a:solidFill>
          <a:ln w="12700">
            <a:solidFill>
              <a:srgbClr val="C4B5FD"/>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3383280" y="2788920"/>
            <a:ext cx="23317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474720" y="3291840"/>
            <a:ext cx="2148840" cy="384048"/>
          </a:xfrm>
          <a:prstGeom prst="rect">
            <a:avLst/>
          </a:prstGeom>
          <a:noFill/>
          <a:ln/>
        </p:spPr>
        <p:txBody>
          <a:bodyPr wrap="square" lIns="0" tIns="0" rIns="0" bIns="0" rtlCol="0" anchor="ctr"/>
          <a:lstStyle/>
          <a:p>
            <a:pPr algn="ctr" indent="0" marL="0">
              <a:buNone/>
            </a:pPr>
            <a:r>
              <a:rPr lang="en-US" sz="1100" b="1" dirty="0">
                <a:solidFill>
                  <a:srgbClr val="2D1B4E"/>
                </a:solidFill>
                <a:latin typeface="Calibri" pitchFamily="34" charset="0"/>
                <a:ea typeface="Calibri" pitchFamily="34" charset="-122"/>
                <a:cs typeface="Calibri" pitchFamily="34" charset="-120"/>
              </a:rPr>
              <a:t>Saroj Singh Dhami</a:t>
            </a:r>
            <a:endParaRPr lang="en-US" sz="1100" dirty="0"/>
          </a:p>
        </p:txBody>
      </p:sp>
      <p:sp>
        <p:nvSpPr>
          <p:cNvPr id="13" name="Text 11"/>
          <p:cNvSpPr/>
          <p:nvPr/>
        </p:nvSpPr>
        <p:spPr>
          <a:xfrm>
            <a:off x="3474720" y="3657600"/>
            <a:ext cx="2148840" cy="320040"/>
          </a:xfrm>
          <a:prstGeom prst="rect">
            <a:avLst/>
          </a:prstGeom>
          <a:noFill/>
          <a:ln/>
        </p:spPr>
        <p:txBody>
          <a:bodyPr wrap="square" lIns="0" tIns="0" rIns="0" bIns="0" rtlCol="0" anchor="ctr"/>
          <a:lstStyle/>
          <a:p>
            <a:pPr algn="ctr" indent="0" marL="0">
              <a:buNone/>
            </a:pPr>
            <a:r>
              <a:rPr lang="en-US" sz="1000" dirty="0">
                <a:solidFill>
                  <a:srgbClr val="7B2D8B"/>
                </a:solidFill>
                <a:latin typeface="Calibri" pitchFamily="34" charset="0"/>
                <a:ea typeface="Calibri" pitchFamily="34" charset="-122"/>
                <a:cs typeface="Calibri" pitchFamily="34" charset="-120"/>
              </a:rPr>
              <a:t>ACE080BCT069</a:t>
            </a:r>
            <a:endParaRPr lang="en-US" sz="1000" dirty="0"/>
          </a:p>
        </p:txBody>
      </p:sp>
      <p:sp>
        <p:nvSpPr>
          <p:cNvPr id="14" name="Shape 12"/>
          <p:cNvSpPr/>
          <p:nvPr/>
        </p:nvSpPr>
        <p:spPr>
          <a:xfrm>
            <a:off x="5989320" y="2743200"/>
            <a:ext cx="2331720" cy="1325880"/>
          </a:xfrm>
          <a:prstGeom prst="roundRect">
            <a:avLst>
              <a:gd name="adj" fmla="val 12414"/>
            </a:avLst>
          </a:prstGeom>
          <a:solidFill>
            <a:srgbClr val="EDE7F6"/>
          </a:solidFill>
          <a:ln w="12700">
            <a:solidFill>
              <a:srgbClr val="C4B5FD"/>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5989320" y="2788920"/>
            <a:ext cx="23317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6080760" y="3291840"/>
            <a:ext cx="2148840" cy="384048"/>
          </a:xfrm>
          <a:prstGeom prst="rect">
            <a:avLst/>
          </a:prstGeom>
          <a:noFill/>
          <a:ln/>
        </p:spPr>
        <p:txBody>
          <a:bodyPr wrap="square" lIns="0" tIns="0" rIns="0" bIns="0" rtlCol="0" anchor="ctr"/>
          <a:lstStyle/>
          <a:p>
            <a:pPr algn="ctr" indent="0" marL="0">
              <a:buNone/>
            </a:pPr>
            <a:r>
              <a:rPr lang="en-US" sz="1100" b="1" dirty="0">
                <a:solidFill>
                  <a:srgbClr val="2D1B4E"/>
                </a:solidFill>
                <a:latin typeface="Calibri" pitchFamily="34" charset="0"/>
                <a:ea typeface="Calibri" pitchFamily="34" charset="-122"/>
                <a:cs typeface="Calibri" pitchFamily="34" charset="-120"/>
              </a:rPr>
              <a:t>Sumina Dangol</a:t>
            </a:r>
            <a:endParaRPr lang="en-US" sz="1100" dirty="0"/>
          </a:p>
        </p:txBody>
      </p:sp>
      <p:sp>
        <p:nvSpPr>
          <p:cNvPr id="17" name="Text 15"/>
          <p:cNvSpPr/>
          <p:nvPr/>
        </p:nvSpPr>
        <p:spPr>
          <a:xfrm>
            <a:off x="6080760" y="3657600"/>
            <a:ext cx="2148840" cy="320040"/>
          </a:xfrm>
          <a:prstGeom prst="rect">
            <a:avLst/>
          </a:prstGeom>
          <a:noFill/>
          <a:ln/>
        </p:spPr>
        <p:txBody>
          <a:bodyPr wrap="square" lIns="0" tIns="0" rIns="0" bIns="0" rtlCol="0" anchor="ctr"/>
          <a:lstStyle/>
          <a:p>
            <a:pPr algn="ctr" indent="0" marL="0">
              <a:buNone/>
            </a:pPr>
            <a:r>
              <a:rPr lang="en-US" sz="1000" dirty="0">
                <a:solidFill>
                  <a:srgbClr val="7B2D8B"/>
                </a:solidFill>
                <a:latin typeface="Calibri" pitchFamily="34" charset="0"/>
                <a:ea typeface="Calibri" pitchFamily="34" charset="-122"/>
                <a:cs typeface="Calibri" pitchFamily="34" charset="-120"/>
              </a:rPr>
              <a:t>ACE080BCT084</a:t>
            </a:r>
            <a:endParaRPr lang="en-US" sz="1000" dirty="0"/>
          </a:p>
        </p:txBody>
      </p:sp>
      <p:sp>
        <p:nvSpPr>
          <p:cNvPr id="18" name="Shape 16"/>
          <p:cNvSpPr/>
          <p:nvPr/>
        </p:nvSpPr>
        <p:spPr>
          <a:xfrm>
            <a:off x="2286000" y="4206240"/>
            <a:ext cx="4572000" cy="685800"/>
          </a:xfrm>
          <a:prstGeom prst="roundRect">
            <a:avLst>
              <a:gd name="adj" fmla="val 20000"/>
            </a:avLst>
          </a:prstGeom>
          <a:solidFill>
            <a:srgbClr val="7B2D8B">
              <a:alpha val="12000"/>
            </a:srgbClr>
          </a:solidFill>
          <a:ln w="12700">
            <a:solidFill>
              <a:srgbClr val="C4B5FD"/>
            </a:solidFill>
            <a:prstDash val="solid"/>
          </a:ln>
        </p:spPr>
      </p:sp>
      <p:sp>
        <p:nvSpPr>
          <p:cNvPr id="19" name="Text 17"/>
          <p:cNvSpPr/>
          <p:nvPr/>
        </p:nvSpPr>
        <p:spPr>
          <a:xfrm>
            <a:off x="2286000" y="4206240"/>
            <a:ext cx="4572000" cy="685800"/>
          </a:xfrm>
          <a:prstGeom prst="rect">
            <a:avLst/>
          </a:prstGeom>
          <a:noFill/>
          <a:ln/>
        </p:spPr>
        <p:txBody>
          <a:bodyPr wrap="square" lIns="0" tIns="0" rIns="0" bIns="0" rtlCol="0" anchor="ctr"/>
          <a:lstStyle/>
          <a:p>
            <a:pPr algn="ctr" indent="0" marL="0">
              <a:buNone/>
            </a:pPr>
            <a:r>
              <a:rPr lang="en-US" sz="950" dirty="0">
                <a:solidFill>
                  <a:srgbClr val="7B2D8B"/>
                </a:solidFill>
                <a:latin typeface="Calibri" pitchFamily="34" charset="0"/>
                <a:ea typeface="Calibri" pitchFamily="34" charset="-122"/>
                <a:cs typeface="Calibri" pitchFamily="34" charset="-120"/>
              </a:rPr>
              <a:t>ENCT 354  ·  Department of ECE  ·  ACEM, Kalanki, Kathmandu  ·  14 June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 Wellness and Safety Platform</dc:title>
  <dc:subject>PptxGenJS Presentation</dc:subject>
  <dc:creator>PptxGenJS</dc:creator>
  <cp:lastModifiedBy>PptxGenJS</cp:lastModifiedBy>
  <cp:revision>1</cp:revision>
  <dcterms:created xsi:type="dcterms:W3CDTF">2026-06-13T23:46:51Z</dcterms:created>
  <dcterms:modified xsi:type="dcterms:W3CDTF">2026-06-13T23:46:51Z</dcterms:modified>
</cp:coreProperties>
</file>